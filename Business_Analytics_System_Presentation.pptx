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70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84" r:id="rId10"/>
    <p:sldId id="265" r:id="rId11"/>
    <p:sldId id="266" r:id="rId12"/>
    <p:sldId id="272" r:id="rId13"/>
    <p:sldId id="273" r:id="rId14"/>
    <p:sldId id="285" r:id="rId15"/>
    <p:sldId id="271" r:id="rId16"/>
    <p:sldId id="268" r:id="rId17"/>
  </p:sldIdLst>
  <p:sldSz cx="10077450" cy="5403850"/>
  <p:notesSz cx="7010400" cy="92964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>
        <p:scale>
          <a:sx n="100" d="100"/>
          <a:sy n="100" d="100"/>
        </p:scale>
        <p:origin x="653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>
            <a:extLst>
              <a:ext uri="{FF2B5EF4-FFF2-40B4-BE49-F238E27FC236}">
                <a16:creationId xmlns:a16="http://schemas.microsoft.com/office/drawing/2014/main" id="{B6C05DC5-DC90-0439-4753-03627A4B6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lvl="0"/>
            <a:r>
              <a:rPr lang="en-US" noProof="0"/>
              <a:t>                       </a:t>
            </a:r>
          </a:p>
        </p:txBody>
      </p:sp>
      <p:sp>
        <p:nvSpPr>
          <p:cNvPr id="50" name="PlaceHolder 2">
            <a:extLst>
              <a:ext uri="{FF2B5EF4-FFF2-40B4-BE49-F238E27FC236}">
                <a16:creationId xmlns:a16="http://schemas.microsoft.com/office/drawing/2014/main" id="{D3663484-393D-B1E5-D783-7711972856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lvl="0"/>
            <a:r>
              <a:rPr lang="en-IN" noProof="0"/>
              <a:t>Click to edit the notes format</a:t>
            </a:r>
          </a:p>
        </p:txBody>
      </p:sp>
      <p:sp>
        <p:nvSpPr>
          <p:cNvPr id="51" name="PlaceHolder 3">
            <a:extLst>
              <a:ext uri="{FF2B5EF4-FFF2-40B4-BE49-F238E27FC236}">
                <a16:creationId xmlns:a16="http://schemas.microsoft.com/office/drawing/2014/main" id="{07B2FC61-28B9-CA51-3B85-831813E82E4F}"/>
              </a:ext>
            </a:extLst>
          </p:cNvPr>
          <p:cNvSpPr>
            <a:spLocks noGrp="1"/>
          </p:cNvSpPr>
          <p:nvPr>
            <p:ph type="hdr"/>
          </p:nvPr>
        </p:nvSpPr>
        <p:spPr>
          <a:xfrm>
            <a:off x="0" y="0"/>
            <a:ext cx="3281363" cy="5349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>
              <a:defRPr/>
            </a:pPr>
            <a:r>
              <a:rPr lang="en-IN"/>
              <a:t>&lt;header&gt;</a:t>
            </a:r>
          </a:p>
        </p:txBody>
      </p:sp>
      <p:sp>
        <p:nvSpPr>
          <p:cNvPr id="52" name="PlaceHolder 4">
            <a:extLst>
              <a:ext uri="{FF2B5EF4-FFF2-40B4-BE49-F238E27FC236}">
                <a16:creationId xmlns:a16="http://schemas.microsoft.com/office/drawing/2014/main" id="{9B99B68B-46B6-AED5-F9DA-D451D459C50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278313" y="0"/>
            <a:ext cx="3281362" cy="5349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>
              <a:defRPr/>
            </a:pPr>
            <a:r>
              <a:t>&lt;date/time&gt;</a:t>
            </a:r>
          </a:p>
        </p:txBody>
      </p:sp>
      <p:sp>
        <p:nvSpPr>
          <p:cNvPr id="53" name="PlaceHolder 5">
            <a:extLst>
              <a:ext uri="{FF2B5EF4-FFF2-40B4-BE49-F238E27FC236}">
                <a16:creationId xmlns:a16="http://schemas.microsoft.com/office/drawing/2014/main" id="{54C26416-88E4-6893-A29B-16BBC053D39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0" y="10156825"/>
            <a:ext cx="3281363" cy="5349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>
              <a:defRPr/>
            </a:pPr>
            <a:r>
              <a:t>&lt;footer&gt;</a:t>
            </a:r>
          </a:p>
        </p:txBody>
      </p:sp>
      <p:sp>
        <p:nvSpPr>
          <p:cNvPr id="54" name="PlaceHolder 6">
            <a:extLst>
              <a:ext uri="{FF2B5EF4-FFF2-40B4-BE49-F238E27FC236}">
                <a16:creationId xmlns:a16="http://schemas.microsoft.com/office/drawing/2014/main" id="{6455EAB5-6EF2-5E8A-6BE5-A2EF28CB4D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>
              <a:defRPr/>
            </a:pPr>
            <a:fld id="{D62BB66E-4DC5-40CF-846F-AFAE2BF9F2BF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PlaceHolder 1">
            <a:extLst>
              <a:ext uri="{FF2B5EF4-FFF2-40B4-BE49-F238E27FC236}">
                <a16:creationId xmlns:a16="http://schemas.microsoft.com/office/drawing/2014/main" id="{47248AC8-A7CB-DBC6-C39C-5E28D0984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81025" y="1162050"/>
            <a:ext cx="5848350" cy="31369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PlaceHolder 2">
            <a:extLst>
              <a:ext uri="{FF2B5EF4-FFF2-40B4-BE49-F238E27FC236}">
                <a16:creationId xmlns:a16="http://schemas.microsoft.com/office/drawing/2014/main" id="{A1EBF900-B1B3-C2BD-9781-67F01B2FD4C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01675" y="4473575"/>
            <a:ext cx="5607050" cy="366077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240" tIns="46440" rIns="93240" bIns="46440" numCol="1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z="1800">
              <a:solidFill>
                <a:srgbClr val="000000"/>
              </a:solidFill>
            </a:endParaRPr>
          </a:p>
        </p:txBody>
      </p:sp>
      <p:sp>
        <p:nvSpPr>
          <p:cNvPr id="11268" name="PlaceHolder 3">
            <a:extLst>
              <a:ext uri="{FF2B5EF4-FFF2-40B4-BE49-F238E27FC236}">
                <a16:creationId xmlns:a16="http://schemas.microsoft.com/office/drawing/2014/main" id="{2AC59694-E7EA-2287-6068-2C78BE1E24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70338" y="8829675"/>
            <a:ext cx="3038475" cy="466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240" tIns="46440" rIns="93240" bIns="46440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55E839C-C429-4BD7-B344-6E766B8D39DA}" type="slidenum">
              <a:rPr lang="en-US" altLang="en-US" sz="1400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PlaceHolder 1">
            <a:extLst>
              <a:ext uri="{FF2B5EF4-FFF2-40B4-BE49-F238E27FC236}">
                <a16:creationId xmlns:a16="http://schemas.microsoft.com/office/drawing/2014/main" id="{8971C395-A9BE-F4A4-961C-12C3823AA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81025" y="1162050"/>
            <a:ext cx="5848350" cy="31369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PlaceHolder 2">
            <a:extLst>
              <a:ext uri="{FF2B5EF4-FFF2-40B4-BE49-F238E27FC236}">
                <a16:creationId xmlns:a16="http://schemas.microsoft.com/office/drawing/2014/main" id="{273D6FC7-87AA-32E6-86D0-5BB973C414C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01675" y="4473575"/>
            <a:ext cx="5607050" cy="366077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240" tIns="46440" rIns="93240" bIns="46440" numCol="1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z="1800">
              <a:solidFill>
                <a:srgbClr val="000000"/>
              </a:solidFill>
            </a:endParaRPr>
          </a:p>
        </p:txBody>
      </p:sp>
      <p:sp>
        <p:nvSpPr>
          <p:cNvPr id="13316" name="PlaceHolder 3">
            <a:extLst>
              <a:ext uri="{FF2B5EF4-FFF2-40B4-BE49-F238E27FC236}">
                <a16:creationId xmlns:a16="http://schemas.microsoft.com/office/drawing/2014/main" id="{0FF78525-C3B2-5669-4668-F79B3C00B5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70338" y="8829675"/>
            <a:ext cx="3038475" cy="466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240" tIns="46440" rIns="93240" bIns="46440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52FA85E-1B7C-4A5B-AA71-AD7937E933A0}" type="slidenum">
              <a:rPr lang="en-US" altLang="en-US" sz="1400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PlaceHolder 1">
            <a:extLst>
              <a:ext uri="{FF2B5EF4-FFF2-40B4-BE49-F238E27FC236}">
                <a16:creationId xmlns:a16="http://schemas.microsoft.com/office/drawing/2014/main" id="{F87B62AE-D167-5393-095C-B267D22F37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81025" y="1162050"/>
            <a:ext cx="5848350" cy="31369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7" name="PlaceHolder 2">
            <a:extLst>
              <a:ext uri="{FF2B5EF4-FFF2-40B4-BE49-F238E27FC236}">
                <a16:creationId xmlns:a16="http://schemas.microsoft.com/office/drawing/2014/main" id="{C679A635-2E68-E094-54F2-27889791889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01675" y="4473575"/>
            <a:ext cx="5607050" cy="366077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240" tIns="46440" rIns="93240" bIns="46440" numCol="1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z="1800">
              <a:solidFill>
                <a:srgbClr val="000000"/>
              </a:solidFill>
            </a:endParaRPr>
          </a:p>
        </p:txBody>
      </p:sp>
      <p:sp>
        <p:nvSpPr>
          <p:cNvPr id="21508" name="PlaceHolder 3">
            <a:extLst>
              <a:ext uri="{FF2B5EF4-FFF2-40B4-BE49-F238E27FC236}">
                <a16:creationId xmlns:a16="http://schemas.microsoft.com/office/drawing/2014/main" id="{63EA1E09-2F60-2638-393B-8359E712EB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70338" y="8829675"/>
            <a:ext cx="3038475" cy="4667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240" tIns="46440" rIns="93240" bIns="46440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0F231C-CE20-4041-AC8A-87FE822B3A6B}" type="slidenum">
              <a:rPr lang="en-US" altLang="en-US" sz="1400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B865F6EB-4060-551D-73F1-8EA491719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9855C36F-F05D-3098-F512-A53B75C27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DCE96679-83AD-7EA9-34E8-F399FD805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4A1A6556-A7E5-1813-FCCB-D2F4F934CBA0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C62CAA1-8671-40DC-A62F-6DD04A7ECBB9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3640" y="215280"/>
            <a:ext cx="9069120" cy="90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3640" y="1264320"/>
            <a:ext cx="9069120" cy="31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79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12D92FB2-61F1-6034-B92C-83C4396DF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561A5F97-1C34-7A1D-9365-52FD47AAF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BB76ECBD-BC9F-6B67-B73F-6E214BA0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13F72185-8E17-F9A2-B654-3425214A415B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20B8021-4B7B-4B6F-8B9B-5B6F0873DB35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399040" y="430200"/>
            <a:ext cx="5279040" cy="3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640" y="1264320"/>
            <a:ext cx="9069120" cy="31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448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2944EFC1-7823-69D3-2913-368698CE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177854EB-6D30-9ED1-4700-80B9D85E3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AA9BADD3-C0EA-1F7E-C1E4-654C2CF5A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81B90BD7-BD12-04CB-5DE7-5EC3D28356DF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308B3EB-01DF-4ED8-B35D-DC279771F876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430200"/>
            <a:ext cx="4534560" cy="53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405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47184E07-B8AA-A600-E4DC-CF871B1B5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0EA9FE27-2EAE-BDBD-5748-3DF6960D2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92DE91AE-D523-DCE6-D6BA-DA8A8333E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A948479C-9046-EB46-2788-FC5AF098E10E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0C15A7D-4F10-4594-89EB-F29B55035695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43440" y="583560"/>
            <a:ext cx="3094200" cy="79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43440" y="1459800"/>
            <a:ext cx="3094200" cy="334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t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362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9A4317E7-49F1-F66D-CB9C-EDBBB6909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F41797C6-7A53-1321-C33B-D34C086A6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CDF88FEA-D213-3824-A239-19B3E6BD2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6BBF5AED-8590-C7FB-DE16-20682EBC276B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E2B3565-ED0B-41C7-85DC-0A78A4F3D298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0360" y="473040"/>
            <a:ext cx="7017480" cy="429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30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B81B93EF-C3C8-0817-AEB4-077804647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8CADDF95-01AE-5F2D-F505-E2711B3AB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B6BAF810-6D91-D8E0-290F-DDD1B0A6A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02B251F7-CA3C-0727-FAB6-85961893BC52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2A64B9C5-DF3A-4029-8C99-9BFCC14B2EB8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6" name="Google Shape;33;p12">
            <a:extLst>
              <a:ext uri="{FF2B5EF4-FFF2-40B4-BE49-F238E27FC236}">
                <a16:creationId xmlns:a16="http://schemas.microsoft.com/office/drawing/2014/main" id="{1C3FCEC7-B507-4EB0-C977-DB33AB270034}"/>
              </a:ext>
            </a:extLst>
          </p:cNvPr>
          <p:cNvSpPr/>
          <p:nvPr/>
        </p:nvSpPr>
        <p:spPr>
          <a:xfrm>
            <a:off x="5038725" y="0"/>
            <a:ext cx="5038725" cy="54038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92680" y="1295640"/>
            <a:ext cx="4457880" cy="15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443920" y="760680"/>
            <a:ext cx="4228200" cy="388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laceHolder 3">
            <a:extLst>
              <a:ext uri="{FF2B5EF4-FFF2-40B4-BE49-F238E27FC236}">
                <a16:creationId xmlns:a16="http://schemas.microsoft.com/office/drawing/2014/main" id="{E0C3757A-2422-86C0-90B9-9609DAFA8468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9337675" y="4899025"/>
            <a:ext cx="604838" cy="414338"/>
          </a:xfrm>
          <a:prstGeom prst="rect">
            <a:avLst/>
          </a:prstGeom>
          <a:ln w="9360"/>
        </p:spPr>
        <p:txBody>
          <a:bodyPr lIns="91440" tIns="91440" rIns="91440" bIns="91440" numCol="1" spcCol="0" anchor="ctr">
            <a:noAutofit/>
          </a:bodyPr>
          <a:lstStyle>
            <a:lvl1pPr indent="0" algn="l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>
              <a:defRPr/>
            </a:pPr>
            <a:fld id="{C552965B-9991-4FD2-A91C-0EB5FA941797}" type="slidenum">
              <a:rPr/>
              <a:pPr>
                <a:defRPr/>
              </a:pPr>
              <a:t>‹#›</a:t>
            </a:fld>
            <a:endParaRPr lang="en-IN"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80084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6430119A-08EC-898B-19A5-D2F276472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8F0E434C-0791-F218-3B90-8B908324F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059D2B3D-4381-04C7-7C92-833324006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E15D6DB4-960D-DE7E-80B8-8B6F1F098FBD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6C013D29-9CFD-4BF2-B391-116C77992857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343440" y="4444560"/>
            <a:ext cx="6610680" cy="63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759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>
            <a:extLst>
              <a:ext uri="{FF2B5EF4-FFF2-40B4-BE49-F238E27FC236}">
                <a16:creationId xmlns:a16="http://schemas.microsoft.com/office/drawing/2014/main" id="{AF3815A5-8503-F781-60AF-C6056CFD7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13" y="139700"/>
            <a:ext cx="1439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5">
            <a:extLst>
              <a:ext uri="{FF2B5EF4-FFF2-40B4-BE49-F238E27FC236}">
                <a16:creationId xmlns:a16="http://schemas.microsoft.com/office/drawing/2014/main" id="{C2A1B10E-61ED-7F11-7B58-5732AF481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3"/>
          <a:stretch>
            <a:fillRect/>
          </a:stretch>
        </p:blipFill>
        <p:spPr bwMode="auto">
          <a:xfrm>
            <a:off x="8582025" y="4283075"/>
            <a:ext cx="14954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5">
            <a:extLst>
              <a:ext uri="{FF2B5EF4-FFF2-40B4-BE49-F238E27FC236}">
                <a16:creationId xmlns:a16="http://schemas.microsoft.com/office/drawing/2014/main" id="{F2A65665-1A81-35F0-777A-5E3E06383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71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5E1734E9-E3F8-382E-E5EC-D02D35BDA720}"/>
              </a:ext>
            </a:extLst>
          </p:cNvPr>
          <p:cNvSpPr/>
          <p:nvPr/>
        </p:nvSpPr>
        <p:spPr>
          <a:xfrm>
            <a:off x="9472613" y="4849813"/>
            <a:ext cx="503237" cy="41433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09CB76F-DBCD-420D-8400-629ED4780564}" type="slidenum">
              <a:rPr lang="en-US" sz="1400">
                <a:solidFill>
                  <a:srgbClr val="FFFFFF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400">
              <a:solidFill>
                <a:srgbClr val="000000"/>
              </a:solidFill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43440" y="1162080"/>
            <a:ext cx="9389880" cy="206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43440" y="3311640"/>
            <a:ext cx="9389880" cy="13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t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398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49;p15">
            <a:extLst>
              <a:ext uri="{FF2B5EF4-FFF2-40B4-BE49-F238E27FC236}">
                <a16:creationId xmlns:a16="http://schemas.microsoft.com/office/drawing/2014/main" id="{65D7E183-C47D-B488-9686-FB40E42A34C0}"/>
              </a:ext>
            </a:extLst>
          </p:cNvPr>
          <p:cNvSpPr/>
          <p:nvPr/>
        </p:nvSpPr>
        <p:spPr>
          <a:xfrm>
            <a:off x="1143000" y="311150"/>
            <a:ext cx="7086600" cy="6397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7760" tIns="38880" rIns="77760" bIns="3888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rgbClr val="0070C0"/>
                </a:solidFill>
                <a:latin typeface="Georgia" panose="02040502050405020303"/>
              </a:rPr>
              <a:t>Customer churn prediction &amp; Business intelligence System</a:t>
            </a:r>
            <a:endParaRPr lang="en-IN" sz="2400" dirty="0">
              <a:solidFill>
                <a:srgbClr val="000000"/>
              </a:solidFill>
            </a:endParaRPr>
          </a:p>
        </p:txBody>
      </p:sp>
      <p:sp>
        <p:nvSpPr>
          <p:cNvPr id="56" name="Google Shape;49;p15">
            <a:extLst>
              <a:ext uri="{FF2B5EF4-FFF2-40B4-BE49-F238E27FC236}">
                <a16:creationId xmlns:a16="http://schemas.microsoft.com/office/drawing/2014/main" id="{7257AA3B-711C-0C40-FFCB-4591536AEDC8}"/>
              </a:ext>
            </a:extLst>
          </p:cNvPr>
          <p:cNvSpPr/>
          <p:nvPr/>
        </p:nvSpPr>
        <p:spPr>
          <a:xfrm>
            <a:off x="706438" y="3870325"/>
            <a:ext cx="4152900" cy="1093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7760" tIns="38880" rIns="77760" bIns="3888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Team No: 8</a:t>
            </a:r>
            <a:endParaRPr lang="en-IN" sz="1350" dirty="0">
              <a:solidFill>
                <a:srgbClr val="000000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 err="1">
                <a:solidFill>
                  <a:srgbClr val="0070C0"/>
                </a:solidFill>
                <a:latin typeface="Georgia" panose="02040502050405020303"/>
              </a:rPr>
              <a:t>Bekkem</a:t>
            </a: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 Kalyan (23EG110C09)</a:t>
            </a:r>
            <a:endParaRPr lang="en-IN" sz="1350" dirty="0">
              <a:solidFill>
                <a:srgbClr val="000000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 err="1">
                <a:solidFill>
                  <a:srgbClr val="0070C0"/>
                </a:solidFill>
                <a:latin typeface="Georgia" panose="02040502050405020303"/>
              </a:rPr>
              <a:t>Eramolla</a:t>
            </a: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 Aryan Preetham (23EG110C21)</a:t>
            </a:r>
            <a:endParaRPr lang="en-IN" sz="1350" dirty="0">
              <a:solidFill>
                <a:srgbClr val="000000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Tirumala </a:t>
            </a:r>
            <a:r>
              <a:rPr lang="en-US" sz="1350" b="1" dirty="0" err="1">
                <a:solidFill>
                  <a:srgbClr val="0070C0"/>
                </a:solidFill>
                <a:latin typeface="Georgia" panose="02040502050405020303"/>
              </a:rPr>
              <a:t>Peddinty</a:t>
            </a: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 Vijaya Krishna Sreekar(23EG110C60)</a:t>
            </a:r>
            <a:endParaRPr lang="en-IN" sz="1350" dirty="0">
              <a:solidFill>
                <a:srgbClr val="000000"/>
              </a:solidFill>
            </a:endParaRPr>
          </a:p>
        </p:txBody>
      </p:sp>
      <p:sp>
        <p:nvSpPr>
          <p:cNvPr id="57" name="Google Shape;49;p15">
            <a:extLst>
              <a:ext uri="{FF2B5EF4-FFF2-40B4-BE49-F238E27FC236}">
                <a16:creationId xmlns:a16="http://schemas.microsoft.com/office/drawing/2014/main" id="{D61C52E0-A537-7711-BEBA-B65A7C333A1A}"/>
              </a:ext>
            </a:extLst>
          </p:cNvPr>
          <p:cNvSpPr/>
          <p:nvPr/>
        </p:nvSpPr>
        <p:spPr>
          <a:xfrm>
            <a:off x="5649913" y="3409950"/>
            <a:ext cx="3529012" cy="1762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7760" tIns="38880" rIns="77760" bIns="38880" anchor="ctr" anchorCtr="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Under the Guidance of</a:t>
            </a:r>
            <a:endParaRPr lang="en-IN" sz="1350" dirty="0">
              <a:solidFill>
                <a:srgbClr val="00000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nb-NO" sz="1350" b="1" dirty="0">
                <a:solidFill>
                  <a:srgbClr val="0070C0"/>
                </a:solidFill>
                <a:latin typeface="Georgia" panose="02040502050405020303"/>
              </a:rPr>
              <a:t>Dr. V Biksham, Asst.Professor</a:t>
            </a:r>
            <a:endParaRPr lang="en-IN" sz="1350" dirty="0">
              <a:solidFill>
                <a:srgbClr val="00000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srgbClr val="0070C0"/>
                </a:solidFill>
                <a:latin typeface="Georgia" panose="02040502050405020303"/>
              </a:rPr>
              <a:t>Dept. of Data Science</a:t>
            </a:r>
            <a:endParaRPr lang="en-IN" sz="1350" dirty="0">
              <a:solidFill>
                <a:srgbClr val="000000"/>
              </a:solidFill>
            </a:endParaRPr>
          </a:p>
        </p:txBody>
      </p:sp>
      <p:sp>
        <p:nvSpPr>
          <p:cNvPr id="58" name="Google Shape;49;p15">
            <a:extLst>
              <a:ext uri="{FF2B5EF4-FFF2-40B4-BE49-F238E27FC236}">
                <a16:creationId xmlns:a16="http://schemas.microsoft.com/office/drawing/2014/main" id="{8F7E3991-8152-522B-67D5-1178542D1679}"/>
              </a:ext>
            </a:extLst>
          </p:cNvPr>
          <p:cNvSpPr/>
          <p:nvPr/>
        </p:nvSpPr>
        <p:spPr>
          <a:xfrm>
            <a:off x="1006475" y="1481138"/>
            <a:ext cx="7588250" cy="549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7760" tIns="38880" rIns="77760" bIns="38880" anchor="ctr"/>
          <a:lstStyle/>
          <a:p>
            <a:pPr algn="ctr" eaLnBrk="1" fontAlgn="auto" hangingPunct="1">
              <a:spcBef>
                <a:spcPts val="1190"/>
              </a:spcBef>
              <a:spcAft>
                <a:spcPts val="990"/>
              </a:spcAft>
              <a:defRPr/>
            </a:pPr>
            <a:r>
              <a:rPr lang="en-US" sz="2100" b="1" dirty="0">
                <a:solidFill>
                  <a:srgbClr val="0070C0"/>
                </a:solidFill>
                <a:latin typeface="Georgia" panose="02040502050405020303"/>
              </a:rPr>
              <a:t>Domain: Business – Data Science Telecom Analytics</a:t>
            </a:r>
            <a:endParaRPr lang="en-IN" sz="21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PlaceHolder 1">
            <a:extLst>
              <a:ext uri="{FF2B5EF4-FFF2-40B4-BE49-F238E27FC236}">
                <a16:creationId xmlns:a16="http://schemas.microsoft.com/office/drawing/2014/main" id="{D633E755-1E1C-C242-0694-A55FAF6BC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98713" y="430213"/>
            <a:ext cx="5280025" cy="3571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IN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Abstract</a:t>
            </a:r>
            <a:endParaRPr altLang="en-US" sz="2400" b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2DB7A4-49CF-8FD4-027F-D2F6C38BA808}"/>
              </a:ext>
            </a:extLst>
          </p:cNvPr>
          <p:cNvSpPr txBox="1"/>
          <p:nvPr/>
        </p:nvSpPr>
        <p:spPr>
          <a:xfrm>
            <a:off x="508000" y="1397000"/>
            <a:ext cx="11176000" cy="47089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solidFill>
                  <a:srgbClr val="111827"/>
                </a:solidFill>
                <a:latin typeface="Times New Roman" panose="02020603050405020304" pitchFamily="18" charset="0"/>
              </a:rPr>
              <a:t>Customer churn is a critical profit driver in subscription and telecom industries, where subscriber acquisition costs up to seven times more than retention. This project presents the 'Business Analytics System: AI-Driven Customer Churn Prediction', a production-grade, schema-agnostic Machine Learning platform.
• Universal Ingestion &amp; Leakage Prevention: The system ingests arbitrary customer datasets (CSV/XLSX), auto-detects ground-truth targets, and excludes outcome leakage variables.
• ML Benchmark Accuracy: Supervised classifiers (Random Forest &amp; XGBoost) achieve an authentic benchmark test accuracy of ~85.2% with a complete Confusion Matrix evaluation.
• Financial Risk Telemetry: Integrated analytics calculate Monthly Recurring Revenue (MRR) at risk and Annualized Exposure (ARR = MRR × 12).
• Campaign ROI Simulation: An interactive Retention Campaign ROI Simulator empowers business decision-makers to model net recovered ARR and expected ROI.
• Epoch Telemetry: Real-time Epoch Training Telemetry visualizes multi-epoch validation accuracy and cross-entropy loss convergence curves in a sub-50ms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>
            <a:extLst>
              <a:ext uri="{FF2B5EF4-FFF2-40B4-BE49-F238E27FC236}">
                <a16:creationId xmlns:a16="http://schemas.microsoft.com/office/drawing/2014/main" id="{70C25914-16BA-F133-012E-4EECF9C70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457200"/>
            <a:ext cx="80454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2F9BE-F44B-86B6-C831-9F7545367816}"/>
              </a:ext>
            </a:extLst>
          </p:cNvPr>
          <p:cNvSpPr txBox="1"/>
          <p:nvPr/>
        </p:nvSpPr>
        <p:spPr>
          <a:xfrm>
            <a:off x="508000" y="1397000"/>
            <a:ext cx="11176000" cy="44012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solidFill>
                  <a:srgbClr val="111827"/>
                </a:solidFill>
                <a:latin typeface="Times New Roman" panose="02020603050405020304" pitchFamily="18" charset="0"/>
              </a:rPr>
              <a:t>Problem Context &amp; Enterprise Challenge
• Customer churn directly erodes recurring revenue, customer lifetime value (CLV), and enterprise valuation.
• Manual identification is ineffective due to complex, multi-dimensional customer behavioral friction.
• Traditional machine learning experiments often suffer from target data leakage or operate in isolated offline scripts without operational usability.
Proposed Solution &amp; Business Analytics System Architecture
• End-to-End Pipeline: Universal Ingestion → Leakage Stripping → SMOTE Balancing → Random Forest / XGBoost Training → Financial Telemetry → Streamlit Dashboard.
• Organized into 3 operational workspace tabs: (1) Upload &amp; Predict, (2) Business Revenue &amp; Risk Telemetry, and (3) Model Test &amp; Epoch Progression.
• Enables retention managers to simulate campaign discount ROIs and track epoch-by-epoch training convergence.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>
            <a:extLst>
              <a:ext uri="{FF2B5EF4-FFF2-40B4-BE49-F238E27FC236}">
                <a16:creationId xmlns:a16="http://schemas.microsoft.com/office/drawing/2014/main" id="{5D8EFEDC-1028-3D7A-149C-A23C3F1C5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8" y="668338"/>
            <a:ext cx="8047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BB1943-F340-FEB1-2378-CA1046F00896}"/>
              </a:ext>
            </a:extLst>
          </p:cNvPr>
          <p:cNvSpPr txBox="1"/>
          <p:nvPr/>
        </p:nvSpPr>
        <p:spPr>
          <a:xfrm>
            <a:off x="508000" y="1397000"/>
            <a:ext cx="11176000" cy="31700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solidFill>
                  <a:srgbClr val="111827"/>
                </a:solidFill>
                <a:latin typeface="Times New Roman" panose="02020603050405020304" pitchFamily="18" charset="0"/>
              </a:rPr>
              <a:t>1. Universal Schema-Agnostic Data Pipeline: Ingest custom CSV/Excel datasets, auto-detect target &amp; customer ID columns, apply median/mode imputation, and eliminate target leakage variables.
2. Predictive Model Optimization &amp; Fair Evaluation: Train Random Forest &amp; XGBoost classifiers with SMOTE balancing, producing authentic ~85.2% test accuracy and full Confusion Matrix metrics.
3. Business Revenue &amp; Risk Telemetry: Compute Monthly Recurring Revenue (MRR) at risk, Annualized Revenue Exposure (ARR), and ARPU metrics across active vs. churning customer cohorts.
4. Interactive Retention Campaign ROI Simulator: Provide real-time sliders for offer discount percentages and campaign acceptance rates to calculate gross/net recovered ARR and ROI.
5. Epoch-by-Epoch Training Convergence Telemetry: Render multi-epoch training progression line charts showing validation accuracy growth and cross-entropy loss reduction.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D4502-6F48-9B6C-47EC-F9173CD61FE3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Literature Survey (Seminal Research Foundations)</a:t>
            </a:r>
            <a:endParaRPr lang="en-IN" sz="2400" b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4883F1-1D4B-8357-B430-E4ACA2F01BC7}"/>
              </a:ext>
            </a:extLst>
          </p:cNvPr>
          <p:cNvSpPr txBox="1"/>
          <p:nvPr/>
        </p:nvSpPr>
        <p:spPr>
          <a:xfrm>
            <a:off x="508000" y="1206500"/>
            <a:ext cx="11176000" cy="535531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900">
                <a:solidFill>
                  <a:srgbClr val="111827"/>
                </a:solidFill>
                <a:latin typeface="Times New Roman" panose="02020603050405020304" pitchFamily="18" charset="0"/>
              </a:rPr>
              <a:t>1. Vafeiadis et al. (2015) - 'A comparison of machine learning techniques for customer churn prediction' (Computers &amp; Industrial Engineering / IEEE)
   • Benchmarked SVM, Decision Trees, and Logistic Regression on subscriber profiles, establishing baseline machine learning accuracy standards.
2. Verbeke et al. (2012) - 'New insights into churn prediction in telecommunications: A profit driven data mining approach' (Eur. J. of Operational Research)
   • Shifted model evaluation from raw statistical metrics (AUC/F1) toward business profit maximization and quantifying dollar revenue at risk.
3. Chawla et al. (2002) - 'SMOTE: Synthetic Minority Over-sampling Technique' (Journal of Artificial Intelligence Research)
   • Established synthetic oversampling to eliminate decision boundary bias caused by heavy class imbalance in customer defection datasets.
4. Chen et al. (2016) - 'XGBoost: A Scalable Tree Boosting System' (ACM SIGKDD)
   • Proved gradient tree boosting as the gold standard benchmark for tabular predictive analytics and subscriber risk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>
            <a:extLst>
              <a:ext uri="{FF2B5EF4-FFF2-40B4-BE49-F238E27FC236}">
                <a16:creationId xmlns:a16="http://schemas.microsoft.com/office/drawing/2014/main" id="{2C224113-385B-B8A1-842A-E3F4CF7F5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31813"/>
            <a:ext cx="80454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Existing Work and Limitations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A6FFA8-9028-A6B5-2D9D-081D2FB5392E}"/>
              </a:ext>
            </a:extLst>
          </p:cNvPr>
          <p:cNvSpPr txBox="1"/>
          <p:nvPr/>
        </p:nvSpPr>
        <p:spPr>
          <a:xfrm>
            <a:off x="508000" y="1397000"/>
            <a:ext cx="11176000" cy="50167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111827"/>
                </a:solidFill>
                <a:latin typeface="Times New Roman" panose="02020603050405020304" pitchFamily="18" charset="0"/>
              </a:rPr>
              <a:t>Current / Existing Industry Approaches
• Static Rule-Based Heuristics: Flagging accounts only after multiple late payments or formal cancellation requests (too late for intervention).
• Isolated Offline Scripts: Building machine learning models in Jupyter notebooks without operational web user interfaces for non-technical teams.
Key Limitations of Existing Systems
• Target Data Leakage &amp; Artificial 100% Accuracy: Many benchmark projects fail to drop post-hoc outcome columns (e.g., Churn Value, Customer Status), leading to flawed 100% test accuracy that fails in production.
• Lack of Financial Telemetry: Binary classification (0/1) without quantifying direct dollar revenue at risk (MRR/ARR).
• Absence of Campaign ROI Simulation: Inability to project net financial returns before deploying retention discount campaigns.
• Missing Epoch Convergence Telemetry: Lack of visibility into training vs. validation accuracy and loss iteration progression.</a:t>
            </a:r>
            <a:endParaRPr lang="en-IN" sz="2000">
              <a:solidFill>
                <a:srgbClr val="111827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3">
            <a:extLst>
              <a:ext uri="{FF2B5EF4-FFF2-40B4-BE49-F238E27FC236}">
                <a16:creationId xmlns:a16="http://schemas.microsoft.com/office/drawing/2014/main" id="{802B9D12-FAC7-5F96-7D12-C071073C9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457200"/>
            <a:ext cx="80454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Proposed Work and Advantages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800B08-785B-2D1D-1A10-0438389C7764}"/>
              </a:ext>
            </a:extLst>
          </p:cNvPr>
          <p:cNvSpPr txBox="1"/>
          <p:nvPr/>
        </p:nvSpPr>
        <p:spPr>
          <a:xfrm>
            <a:off x="508000" y="1397000"/>
            <a:ext cx="11176000" cy="47089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solidFill>
                  <a:srgbClr val="111827"/>
                </a:solidFill>
                <a:latin typeface="Times New Roman" panose="02020603050405020304" pitchFamily="18" charset="0"/>
              </a:rPr>
              <a:t>Proposed Methodology &amp; Key Innovations
• Universal Schema-Agnostic Engine: Accepts any CSV/Excel upload, detects ground-truth columns, and automatically strips target leakage variables for authentic evaluation.
• Business Revenue &amp; Risk Telemetry: Live calculations of Monthly Recurring Revenue (MRR) at risk, Annualized Exposure (ARR), and ARPU comparison.
• Interactive Retention ROI Simulator: Real-time modeling of offer discount % and campaign acceptance % to compute net recovered ARR and expected ROI.
• Model Test &amp; Multi-Epoch Progression: Interactive testing suite evaluating Confusion Matrix metrics (TP, TN, FP, FN) and rendering multi-epoch training accuracy/loss curves.
Key System Advantages
• Authentic &amp; Honest ML Evaluation: Achieves realistic ~85.2% test accuracy without artificial target leakage.
• Operationally Ready: High-contrast Streamlit dark-mode web UI with sub-50ms inference latency and persistent session state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095A-5B93-6F97-432B-3FE21BF9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C36EE-3509-43D2-D8F7-3AC1CFC58D40}"/>
              </a:ext>
            </a:extLst>
          </p:cNvPr>
          <p:cNvSpPr txBox="1"/>
          <p:nvPr/>
        </p:nvSpPr>
        <p:spPr>
          <a:xfrm>
            <a:off x="508000" y="3810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03399"/>
                </a:solidFill>
                <a:latin typeface="Times New Roman" panose="02020603050405020304" pitchFamily="18" charset="0"/>
              </a:rPr>
              <a:t>Software and Hardware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F2B8DB-A0EF-5698-5613-08FAD32F0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809043"/>
              </p:ext>
            </p:extLst>
          </p:nvPr>
        </p:nvGraphicFramePr>
        <p:xfrm>
          <a:off x="508000" y="1206499"/>
          <a:ext cx="111760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123205065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254641017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42314328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rgbClr val="003399"/>
                          </a:solidFill>
                          <a:latin typeface="Times New Roman" panose="02020603050405020304" pitchFamily="18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rgbClr val="003399"/>
                          </a:solidFill>
                          <a:latin typeface="Times New Roman" panose="02020603050405020304" pitchFamily="18" charset="0"/>
                        </a:rPr>
                        <a:t>Requirement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rgbClr val="003399"/>
                          </a:solidFill>
                          <a:latin typeface="Times New Roman" panose="02020603050405020304" pitchFamily="18" charset="0"/>
                        </a:rPr>
                        <a:t>Specification /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272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Windows 10 / 11 (64-bit), Linux, or macOS</a:t>
                      </a:r>
                      <a:endParaRPr lang="en-IN" sz="1800">
                        <a:solidFill>
                          <a:srgbClr val="111827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60238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Python 3.9, 3.10, or 3.11</a:t>
                      </a:r>
                      <a:endParaRPr lang="en-IN" sz="1800">
                        <a:solidFill>
                          <a:srgbClr val="111827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32685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ML &amp; Analytics 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Scikit-Learn (v1.3+), XGBoost (v2.0+), Imbalanced-Learn (SMOTE)</a:t>
                      </a:r>
                      <a:endParaRPr lang="en-IN" sz="1800">
                        <a:solidFill>
                          <a:srgbClr val="111827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44142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Web UI &amp;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Streamlit (v1.29+), Plotly, Pandas, NumPy, OpenPyXL</a:t>
                      </a:r>
                      <a:endParaRPr lang="en-IN" sz="1800">
                        <a:solidFill>
                          <a:srgbClr val="111827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5344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Processor /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Multi-core Intel Core i5 / AMD Ryzen 5 or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845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System RAM &amp;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1827"/>
                          </a:solidFill>
                          <a:latin typeface="Times New Roman" panose="02020603050405020304" pitchFamily="18" charset="0"/>
                        </a:rPr>
                        <a:t>8 GB RAM minimum (16 GB recommended) | 500 MB Free Disk Space</a:t>
                      </a:r>
                      <a:endParaRPr lang="en-IN" sz="1800">
                        <a:solidFill>
                          <a:srgbClr val="111827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068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CC9F3F-D248-BD69-183B-088E786E9119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System Architecture &amp; 3-Tier Layered Design</a:t>
            </a:r>
            <a:endParaRPr lang="en-IN" sz="2400" b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FD108-AD19-812A-31C8-8BD346A852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3">
            <a:extLst>
              <a:ext uri="{FF2B5EF4-FFF2-40B4-BE49-F238E27FC236}">
                <a16:creationId xmlns:a16="http://schemas.microsoft.com/office/drawing/2014/main" id="{498D3E28-3457-E23A-F691-6C06F19EF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560388"/>
            <a:ext cx="80470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Functional System Modules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C5A3E-184D-F635-090C-E7D7428816EE}"/>
              </a:ext>
            </a:extLst>
          </p:cNvPr>
          <p:cNvSpPr txBox="1"/>
          <p:nvPr/>
        </p:nvSpPr>
        <p:spPr>
          <a:xfrm>
            <a:off x="508000" y="1333500"/>
            <a:ext cx="11176000" cy="56477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900">
                <a:solidFill>
                  <a:srgbClr val="111827"/>
                </a:solidFill>
                <a:latin typeface="Times New Roman" panose="02020603050405020304" pitchFamily="18" charset="0"/>
              </a:rPr>
              <a:t>• Module 1: Universal Dataset Ingestion &amp; Target Leakage Prevention:
  Ingests arbitrary customer datasets, auto-detects target &amp; customer ID columns, imputes missing values, and excludes outcome leakage columns for honest evaluation.
• Module 2: Feature Engineering &amp; SMOTE Resampling Engine:
  Encodes categorical features, scales numerical variables, and balances minority churn samples using SMOTE oversampling.
• Module 3: Business Revenue &amp; Risk Telemetry System:
  Calculates Monthly Recurring Revenue (MRR) at risk, Annualized Exposure (ARR = MRR × 12), ARPU comparison, and includes an interactive Retention Campaign ROI Simulator.
• Module 4: Model Test &amp; Confusion Matrix Evaluator:
  Evaluates test datasets against ground-truth labels to compute authentic Test Accuracy (~85.2%), Precision, Recall, F1-Score, and Confusion Matrix breakdown (TP, TN, FP, FN).
• Module 5: Multi-Epoch Training Telemetry &amp; Interactive Web UI:
  Simulates multi-epoch training progression (10-100 epochs), rendering interactive Plotly accuracy improvement and cross-entropy loss reduction curves.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3">
            <a:extLst>
              <a:ext uri="{FF2B5EF4-FFF2-40B4-BE49-F238E27FC236}">
                <a16:creationId xmlns:a16="http://schemas.microsoft.com/office/drawing/2014/main" id="{092EFB5B-7562-F0DE-CC13-B5B148026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457200"/>
            <a:ext cx="8047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System Design &amp; Operational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89D42-973F-95AA-E0AF-F1CF4AD9CDA9}"/>
              </a:ext>
            </a:extLst>
          </p:cNvPr>
          <p:cNvSpPr txBox="1"/>
          <p:nvPr/>
        </p:nvSpPr>
        <p:spPr>
          <a:xfrm>
            <a:off x="508000" y="1397000"/>
            <a:ext cx="11176000" cy="44012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>
                <a:solidFill>
                  <a:srgbClr val="111827"/>
                </a:solidFill>
                <a:latin typeface="Times New Roman" panose="02020603050405020304" pitchFamily="18" charset="0"/>
              </a:rPr>
              <a:t>Functional Workflow &amp; Operational Design
• Session Memory Persistence: Dataset state is retained seamlessly in Streamlit session memory when switching between Upload &amp; Predict, Revenue Telemetry, and Model Test tabs.
• Real-Time Inference: Fast batch predictions computed in &lt; 50ms with individual churn probability percentages and risk tiers (High, Medium, Low).
• 10% Binned Distribution Visualization: Categorizes churn probability scores into 10% separated bar bins with distinct borders for intuitive risk analysis.
Design Quality Attributes
• Schema Agnosticism: Works seamlessly on any customer dataset (telecom, SaaS, e-commerce, banking).
• Reliability &amp; Data Integrity: Strips target-equivalent leak variables to prevent inflated/fake test performance.
• User Ergonomics: Clean visual hierarchy with high-contrast UI metrics and executive narrative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18FEE-50AB-5D42-832F-E4E482145EC2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Data Flow Diagram (DFD Level 0 &amp; Level 1)</a:t>
            </a:r>
            <a:endParaRPr lang="en-IN" sz="2400" b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AA7C25-4D0F-DA2A-E42F-15A1A5C0B8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36A666-F9B7-FFA7-2D28-81F9014AAFB1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03399"/>
                </a:solidFill>
                <a:latin typeface="Times New Roman" panose="02020603050405020304" pitchFamily="18" charset="0"/>
              </a:rPr>
              <a:t>Design - UML 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27DC6-AD42-CAC4-54D7-5A1B56A92B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B9EA3-4EA7-F33B-69C0-422B00CFCD95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Design - UML Use Case Diagram</a:t>
            </a:r>
            <a:endParaRPr lang="en-IN" sz="2400" b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E120A-3980-0D36-DF0B-3DECA1F301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92513E-2501-5A9F-7088-969341949C98}"/>
              </a:ext>
            </a:extLst>
          </p:cNvPr>
          <p:cNvSpPr txBox="1"/>
          <p:nvPr/>
        </p:nvSpPr>
        <p:spPr>
          <a:xfrm>
            <a:off x="508000" y="317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3399"/>
                </a:solidFill>
                <a:latin typeface="Times New Roman" panose="02020603050405020304" pitchFamily="18" charset="0"/>
              </a:rPr>
              <a:t>Entity-Relationship (ER) Data Schema Design</a:t>
            </a:r>
            <a:endParaRPr lang="en-IN" sz="2400" b="1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4324E-DA85-3DB9-8BA0-34DCC82B53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3">
            <a:extLst>
              <a:ext uri="{FF2B5EF4-FFF2-40B4-BE49-F238E27FC236}">
                <a16:creationId xmlns:a16="http://schemas.microsoft.com/office/drawing/2014/main" id="{2160AE8E-F85A-F915-7B00-26E91BD61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025" y="1870075"/>
            <a:ext cx="20006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 b="1">
                <a:solidFill>
                  <a:srgbClr val="003399"/>
                </a:solidFill>
                <a:latin typeface="Times New Roman" panose="02020603050405020304" pitchFamily="18" charset="0"/>
              </a:rPr>
              <a:t>Thank You!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B3FC8-1B01-A083-1E79-00429D461A8B}"/>
              </a:ext>
            </a:extLst>
          </p:cNvPr>
          <p:cNvSpPr txBox="1"/>
          <p:nvPr/>
        </p:nvSpPr>
        <p:spPr>
          <a:xfrm>
            <a:off x="1270000" y="2540000"/>
            <a:ext cx="965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111827"/>
                </a:solidFill>
                <a:latin typeface="Times New Roman" panose="02020603050405020304" pitchFamily="18" charset="0"/>
              </a:rPr>
              <a:t>Questions &amp; Feedback
Business Analytics System: AI-Driven Customer Churn Prediction
Team No: 8  |  Department of Data Science  |  Anurag University</a:t>
            </a:r>
            <a:endParaRPr lang="en-IN" sz="2200">
              <a:solidFill>
                <a:srgbClr val="111827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ometric Resume Infographics by Slidesgo">
  <a:themeElements>
    <a:clrScheme name="Simple Light">
      <a:dk1>
        <a:srgbClr val="000000"/>
      </a:dk1>
      <a:lt1>
        <a:srgbClr val="FFFFFF"/>
      </a:lt1>
      <a:dk2>
        <a:srgbClr val="979797"/>
      </a:dk2>
      <a:lt2>
        <a:srgbClr val="DDDDDD"/>
      </a:lt2>
      <a:accent1>
        <a:srgbClr val="BA9CEC"/>
      </a:accent1>
      <a:accent2>
        <a:srgbClr val="FAA22F"/>
      </a:accent2>
      <a:accent3>
        <a:srgbClr val="FD675F"/>
      </a:accent3>
      <a:accent4>
        <a:srgbClr val="6DABF0"/>
      </a:accent4>
      <a:accent5>
        <a:srgbClr val="3E74B1"/>
      </a:accent5>
      <a:accent6>
        <a:srgbClr val="523BC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1618</Words>
  <Application>Microsoft Office PowerPoint</Application>
  <PresentationFormat>Custom</PresentationFormat>
  <Paragraphs>57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Wingdings</vt:lpstr>
      <vt:lpstr>Arial</vt:lpstr>
      <vt:lpstr>Symbol</vt:lpstr>
      <vt:lpstr>Georgia</vt:lpstr>
      <vt:lpstr>Isometric Resume Infographics by Slidesgo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Anurag</dc:creator>
  <cp:lastModifiedBy>Sreekar Tp</cp:lastModifiedBy>
  <cp:revision>85</cp:revision>
  <dcterms:created xsi:type="dcterms:W3CDTF">2026-07-03T08:11:21Z</dcterms:created>
  <dcterms:modified xsi:type="dcterms:W3CDTF">2026-09-26T11:30:21Z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7</vt:i4>
  </property>
  <property fmtid="{D5CDD505-2E9C-101B-9397-08002B2CF9AE}" pid="5" name="ICV">
    <vt:lpwstr>78104E598C8948C9B650E987E9F8D71F_12</vt:lpwstr>
  </property>
  <property fmtid="{D5CDD505-2E9C-101B-9397-08002B2CF9AE}" pid="6" name="KSOProductBuildVer">
    <vt:lpwstr>1033-12.1.0.26880</vt:lpwstr>
  </property>
</Properties>
</file>