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1"/>
  </p:notesMasterIdLst>
  <p:sldIdLst>
    <p:sldId id="256" r:id="rId10"/>
    <p:sldId id="257" r:id="rId9"/>
    <p:sldId id="258" r:id="rId8"/>
    <p:sldId id="259" r:id="rId7"/>
    <p:sldId id="260" r:id="rId6"/>
    <p:sldId id="261" r:id="rId5"/>
    <p:sldId id="262" r:id="rId4"/>
    <p:sldId id="263" r:id="rId3"/>
    <p:sldId id="264" r:id="rId2"/>
    <p:sldId id="265" r:id="rId20"/>
    <p:sldId id="266" r:id="rId21"/>
    <p:sldId id="267" r:id="rId22"/>
    <p:sldId id="268" r:id="rId23"/>
  </p:sldIdLst>
  <p:sldSz cx="10077450" cy="5403850"/>
  <p:notesSz cx="7010400" cy="9296400"/>
  <p:embeddedFontLst>
    <p:embeddedFont>
      <p:font typeface="Georgia" panose="02040502050405020303" pitchFamily="18" charset="0"/>
      <p:regular r:id="rId12"/>
      <p:bold r:id="rId13"/>
      <p:italic r:id="rId14"/>
      <p:boldItalic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73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9.xml"/><Relationship Id="rId3" Type="http://schemas.openxmlformats.org/officeDocument/2006/relationships/slide" Target="slides/slide8.xml"/><Relationship Id="rId4" Type="http://schemas.openxmlformats.org/officeDocument/2006/relationships/slide" Target="slides/slide7.xml"/><Relationship Id="rId5" Type="http://schemas.openxmlformats.org/officeDocument/2006/relationships/slide" Target="slides/slide6.xml"/><Relationship Id="rId6" Type="http://schemas.openxmlformats.org/officeDocument/2006/relationships/slide" Target="slides/slide5.xml"/><Relationship Id="rId7" Type="http://schemas.openxmlformats.org/officeDocument/2006/relationships/slide" Target="slides/slide4.xml"/><Relationship Id="rId8" Type="http://schemas.openxmlformats.org/officeDocument/2006/relationships/slide" Target="slides/slide3.xml"/><Relationship Id="rId9" Type="http://schemas.openxmlformats.org/officeDocument/2006/relationships/slide" Target="slides/slide2.xml"/><Relationship Id="rId10" Type="http://schemas.openxmlformats.org/officeDocument/2006/relationships/slide" Target="slides/slide1.xml"/><Relationship Id="rId11" Type="http://schemas.openxmlformats.org/officeDocument/2006/relationships/notesMaster" Target="notesMasters/notesMaster1.xml"/><Relationship Id="rId12" Type="http://schemas.openxmlformats.org/officeDocument/2006/relationships/font" Target="fonts/font1.fntdata"/><Relationship Id="rId13" Type="http://schemas.openxmlformats.org/officeDocument/2006/relationships/font" Target="fonts/font2.fntdata"/><Relationship Id="rId14" Type="http://schemas.openxmlformats.org/officeDocument/2006/relationships/font" Target="fonts/font3.fntdata"/><Relationship Id="rId15" Type="http://schemas.openxmlformats.org/officeDocument/2006/relationships/font" Target="fonts/font4.fntdata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Click to move the slide</a:t>
            </a: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Click to edit the notes format</a:t>
            </a:r>
          </a:p>
        </p:txBody>
      </p:sp>
      <p:sp>
        <p:nvSpPr>
          <p:cNvPr id="5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rPr>
              <a:t>&lt;header&gt;</a:t>
            </a:r>
          </a:p>
        </p:txBody>
      </p:sp>
      <p:sp>
        <p:nvSpPr>
          <p:cNvPr id="52" name="PlaceHolder 4"/>
          <p:cNvSpPr>
            <a:spLocks noGrp="1"/>
          </p:cNvSpPr>
          <p:nvPr>
            <p:ph type="dt" idx="2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defRPr>
            </a:lvl1pPr>
          </a:lstStyle>
          <a:p>
            <a:pPr indent="0" algn="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rPr>
              <a:t>&lt;date/time&gt;</a:t>
            </a:r>
          </a:p>
        </p:txBody>
      </p:sp>
      <p:sp>
        <p:nvSpPr>
          <p:cNvPr id="53" name="PlaceHolder 5"/>
          <p:cNvSpPr>
            <a:spLocks noGrp="1"/>
          </p:cNvSpPr>
          <p:nvPr>
            <p:ph type="ftr" idx="3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defRPr>
            </a:lvl1pPr>
          </a:lstStyle>
          <a:p>
            <a:pPr indent="0" algn="l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rPr>
              <a:t>&lt;footer&gt;</a:t>
            </a:r>
          </a:p>
        </p:txBody>
      </p:sp>
      <p:sp>
        <p:nvSpPr>
          <p:cNvPr id="54" name="PlaceHolder 6"/>
          <p:cNvSpPr>
            <a:spLocks noGrp="1"/>
          </p:cNvSpPr>
          <p:nvPr>
            <p:ph type="sldNum" idx="4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defRPr>
            </a:lvl1pPr>
          </a:lstStyle>
          <a:p>
            <a:pPr indent="0" algn="r">
              <a:buNone/>
            </a:pPr>
            <a:fld id="{4E8E1D24-9906-40C6-8F2B-7E3575132226}" type="slidenum"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rPr>
              <a:t>‹#›</a:t>
            </a:fld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8;p5"/>
          <p:cNvPicPr/>
          <p:nvPr/>
        </p:nvPicPr>
        <p:blipFill>
          <a:blip r:embed="rId2"/>
          <a:stretch>
            <a:fillRect/>
          </a:stretch>
        </p:blipFill>
        <p:spPr>
          <a:xfrm>
            <a:off x="8481960" y="139680"/>
            <a:ext cx="1439640" cy="294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" name="Google Shape;10;p5"/>
          <p:cNvPicPr/>
          <p:nvPr/>
        </p:nvPicPr>
        <p:blipFill>
          <a:blip r:embed="rId3"/>
          <a:srcRect t="6693"/>
          <a:stretch>
            <a:fillRect/>
          </a:stretch>
        </p:blipFill>
        <p:spPr>
          <a:xfrm>
            <a:off x="8582040" y="4282920"/>
            <a:ext cx="1495080" cy="1120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" name="Google Shape;11;p5"/>
          <p:cNvPicPr/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26680" cy="1101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" name="Google Shape;12;p5"/>
          <p:cNvSpPr/>
          <p:nvPr/>
        </p:nvSpPr>
        <p:spPr>
          <a:xfrm>
            <a:off x="9472680" y="4849920"/>
            <a:ext cx="502920" cy="41400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</a:pPr>
            <a:fld id="{17605023-0A58-4502-81C6-92D046507659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 panose="020B0604020202020204"/>
              </a:rPr>
              <a:t>‹#›</a:t>
            </a:fld>
            <a:endParaRPr lang="en-IN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6" name="PlaceHolder 1"/>
          <p:cNvSpPr>
            <a:spLocks noGrp="1"/>
          </p:cNvSpPr>
          <p:nvPr>
            <p:ph type="title" hasCustomPrompt="1"/>
          </p:nvPr>
        </p:nvSpPr>
        <p:spPr>
          <a:xfrm>
            <a:off x="503640" y="215280"/>
            <a:ext cx="9069120" cy="90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</a:p>
        </p:txBody>
      </p:sp>
      <p:sp>
        <p:nvSpPr>
          <p:cNvPr id="7" name="PlaceHolder 2"/>
          <p:cNvSpPr>
            <a:spLocks noGrp="1"/>
          </p:cNvSpPr>
          <p:nvPr>
            <p:ph type="body" hasCustomPrompt="1"/>
          </p:nvPr>
        </p:nvSpPr>
        <p:spPr>
          <a:xfrm>
            <a:off x="503640" y="1264320"/>
            <a:ext cx="9069120" cy="313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defRPr>
            </a:lvl1pPr>
            <a:lvl2pPr lvl="1" algn="l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defRPr>
            </a:lvl3pPr>
            <a:lvl4pPr lvl="3" algn="l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defRPr>
            </a:lvl4pPr>
            <a:lvl5pPr lvl="4" algn="l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defRPr>
            </a:lvl5pPr>
            <a:lvl6pPr lvl="5" algn="l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defRPr>
            </a:lvl6pPr>
            <a:lvl7pPr lvl="6" algn="l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defRPr>
            </a:lvl7pPr>
          </a:lstStyle>
          <a:p>
            <a:pPr marL="431800" indent="-323850" algn="l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Click to edit the outline text format</a:t>
            </a:r>
          </a:p>
          <a:p>
            <a:pPr marL="864235" lvl="1" indent="-323850" algn="l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Second Outline Level</a:t>
            </a:r>
          </a:p>
          <a:p>
            <a:pPr marL="1296035" lvl="2" indent="-288290" algn="l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Third Outline Level</a:t>
            </a:r>
          </a:p>
          <a:p>
            <a:pPr marL="1727835" lvl="3" indent="-215900" algn="l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Fourth Outline Level</a:t>
            </a:r>
          </a:p>
          <a:p>
            <a:pPr marL="2160270" lvl="4" indent="-215900" algn="l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Fifth Outline Level</a:t>
            </a:r>
          </a:p>
          <a:p>
            <a:pPr marL="2592070" lvl="5" indent="-215900" algn="l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Sixth Outline Level</a:t>
            </a:r>
          </a:p>
          <a:p>
            <a:pPr marL="3023870" lvl="6" indent="-215900" algn="l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8;p5"/>
          <p:cNvPicPr/>
          <p:nvPr/>
        </p:nvPicPr>
        <p:blipFill>
          <a:blip r:embed="rId2"/>
          <a:stretch>
            <a:fillRect/>
          </a:stretch>
        </p:blipFill>
        <p:spPr>
          <a:xfrm>
            <a:off x="8481960" y="139680"/>
            <a:ext cx="1439640" cy="294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" name="Google Shape;10;p5"/>
          <p:cNvPicPr/>
          <p:nvPr/>
        </p:nvPicPr>
        <p:blipFill>
          <a:blip r:embed="rId3"/>
          <a:srcRect t="6693"/>
          <a:stretch>
            <a:fillRect/>
          </a:stretch>
        </p:blipFill>
        <p:spPr>
          <a:xfrm>
            <a:off x="8582040" y="4282920"/>
            <a:ext cx="1495080" cy="1120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" name="Google Shape;11;p5"/>
          <p:cNvPicPr/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26680" cy="1101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" name="Google Shape;12;p5"/>
          <p:cNvSpPr/>
          <p:nvPr/>
        </p:nvSpPr>
        <p:spPr>
          <a:xfrm>
            <a:off x="9472680" y="4849920"/>
            <a:ext cx="502920" cy="41400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</a:pPr>
            <a:fld id="{53BD362F-D796-41E8-8878-6BBC545F07B5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 panose="020B0604020202020204"/>
              </a:rPr>
              <a:t>‹#›</a:t>
            </a:fld>
            <a:endParaRPr lang="en-IN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2" name="PlaceHolder 1"/>
          <p:cNvSpPr>
            <a:spLocks noGrp="1"/>
          </p:cNvSpPr>
          <p:nvPr>
            <p:ph type="title" hasCustomPrompt="1"/>
          </p:nvPr>
        </p:nvSpPr>
        <p:spPr>
          <a:xfrm>
            <a:off x="2399040" y="430200"/>
            <a:ext cx="5279040" cy="357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numCol="1" spcCol="0" anchor="ctr">
            <a:noAutofit/>
          </a:bodyPr>
          <a:lstStyle>
            <a:lvl1pPr indent="0" algn="l">
              <a:buNone/>
              <a:defRPr lang="en-US" sz="25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defRPr>
            </a:lvl1pPr>
          </a:lstStyle>
          <a:p>
            <a:pPr indent="0" algn="l">
              <a:buNone/>
            </a:pPr>
            <a:r>
              <a:rPr lang="en-US" sz="25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</a:p>
        </p:txBody>
      </p:sp>
      <p:sp>
        <p:nvSpPr>
          <p:cNvPr id="13" name="PlaceHolder 2"/>
          <p:cNvSpPr>
            <a:spLocks noGrp="1"/>
          </p:cNvSpPr>
          <p:nvPr>
            <p:ph type="body" hasCustomPrompt="1"/>
          </p:nvPr>
        </p:nvSpPr>
        <p:spPr>
          <a:xfrm>
            <a:off x="503640" y="1264320"/>
            <a:ext cx="9069120" cy="313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defRPr>
            </a:lvl1pPr>
            <a:lvl2pPr lvl="1" algn="l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defRPr>
            </a:lvl3pPr>
            <a:lvl4pPr lvl="3" algn="l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defRPr>
            </a:lvl4pPr>
            <a:lvl5pPr lvl="4" algn="l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defRPr>
            </a:lvl5pPr>
            <a:lvl6pPr lvl="5" algn="l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defRPr>
            </a:lvl6pPr>
            <a:lvl7pPr lvl="6" algn="l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defRPr>
            </a:lvl7pPr>
          </a:lstStyle>
          <a:p>
            <a:pPr marL="431800" indent="-323850" algn="l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Click to edit the outline text format</a:t>
            </a:r>
          </a:p>
          <a:p>
            <a:pPr marL="864235" lvl="1" indent="-323850" algn="l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Second Outline Level</a:t>
            </a:r>
          </a:p>
          <a:p>
            <a:pPr marL="1296035" lvl="2" indent="-288290" algn="l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Third Outline Level</a:t>
            </a:r>
          </a:p>
          <a:p>
            <a:pPr marL="1727835" lvl="3" indent="-215900" algn="l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Fourth Outline Level</a:t>
            </a:r>
          </a:p>
          <a:p>
            <a:pPr marL="2160270" lvl="4" indent="-215900" algn="l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Fifth Outline Level</a:t>
            </a:r>
          </a:p>
          <a:p>
            <a:pPr marL="2592070" lvl="5" indent="-215900" algn="l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Sixth Outline Level</a:t>
            </a:r>
          </a:p>
          <a:p>
            <a:pPr marL="3023870" lvl="6" indent="-215900" algn="l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 only 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8;p5"/>
          <p:cNvPicPr/>
          <p:nvPr/>
        </p:nvPicPr>
        <p:blipFill>
          <a:blip r:embed="rId2"/>
          <a:stretch>
            <a:fillRect/>
          </a:stretch>
        </p:blipFill>
        <p:spPr>
          <a:xfrm>
            <a:off x="8481960" y="139680"/>
            <a:ext cx="1439640" cy="294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" name="Google Shape;10;p5"/>
          <p:cNvPicPr/>
          <p:nvPr/>
        </p:nvPicPr>
        <p:blipFill>
          <a:blip r:embed="rId3"/>
          <a:srcRect t="6693"/>
          <a:stretch>
            <a:fillRect/>
          </a:stretch>
        </p:blipFill>
        <p:spPr>
          <a:xfrm>
            <a:off x="8582040" y="4282920"/>
            <a:ext cx="1495080" cy="1120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" name="Google Shape;11;p5"/>
          <p:cNvPicPr/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26680" cy="1101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" name="Google Shape;12;p5"/>
          <p:cNvSpPr/>
          <p:nvPr/>
        </p:nvSpPr>
        <p:spPr>
          <a:xfrm>
            <a:off x="9472680" y="4849920"/>
            <a:ext cx="502920" cy="41400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</a:pPr>
            <a:fld id="{3F57D650-F9C9-4132-8E83-02670C5F6298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 panose="020B0604020202020204"/>
              </a:rPr>
              <a:t>‹#›</a:t>
            </a:fld>
            <a:endParaRPr lang="en-IN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8" name="PlaceHolder 1"/>
          <p:cNvSpPr>
            <a:spLocks noGrp="1"/>
          </p:cNvSpPr>
          <p:nvPr>
            <p:ph type="title" hasCustomPrompt="1"/>
          </p:nvPr>
        </p:nvSpPr>
        <p:spPr>
          <a:xfrm>
            <a:off x="504000" y="430200"/>
            <a:ext cx="4534560" cy="539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numCol="1" spcCol="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 column tex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8;p5"/>
          <p:cNvPicPr/>
          <p:nvPr/>
        </p:nvPicPr>
        <p:blipFill>
          <a:blip r:embed="rId2"/>
          <a:stretch>
            <a:fillRect/>
          </a:stretch>
        </p:blipFill>
        <p:spPr>
          <a:xfrm>
            <a:off x="8481960" y="139680"/>
            <a:ext cx="1439640" cy="294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" name="Google Shape;10;p5"/>
          <p:cNvPicPr/>
          <p:nvPr/>
        </p:nvPicPr>
        <p:blipFill>
          <a:blip r:embed="rId3"/>
          <a:srcRect t="6693"/>
          <a:stretch>
            <a:fillRect/>
          </a:stretch>
        </p:blipFill>
        <p:spPr>
          <a:xfrm>
            <a:off x="8582040" y="4282920"/>
            <a:ext cx="1495080" cy="1120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" name="Google Shape;11;p5"/>
          <p:cNvPicPr/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26680" cy="1101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" name="Google Shape;12;p5"/>
          <p:cNvSpPr/>
          <p:nvPr/>
        </p:nvSpPr>
        <p:spPr>
          <a:xfrm>
            <a:off x="9472680" y="4849920"/>
            <a:ext cx="502920" cy="41400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</a:pPr>
            <a:fld id="{3604E80E-97D1-444C-A731-9B9CA6897008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 panose="020B0604020202020204"/>
              </a:rPr>
              <a:t>‹#›</a:t>
            </a:fld>
            <a:endParaRPr lang="en-IN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3" name="PlaceHolder 1"/>
          <p:cNvSpPr>
            <a:spLocks noGrp="1"/>
          </p:cNvSpPr>
          <p:nvPr>
            <p:ph type="title" hasCustomPrompt="1"/>
          </p:nvPr>
        </p:nvSpPr>
        <p:spPr>
          <a:xfrm>
            <a:off x="343440" y="583560"/>
            <a:ext cx="3094200" cy="793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numCol="1" spcCol="0" anchor="b">
            <a:noAutofit/>
          </a:bodyPr>
          <a:lstStyle>
            <a:lvl1pPr indent="0" algn="l">
              <a:buNone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defRPr>
            </a:lvl1pPr>
          </a:lstStyle>
          <a:p>
            <a:pPr indent="0" algn="l">
              <a:buNone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</a:p>
        </p:txBody>
      </p:sp>
      <p:sp>
        <p:nvSpPr>
          <p:cNvPr id="24" name="PlaceHolder 2"/>
          <p:cNvSpPr>
            <a:spLocks noGrp="1"/>
          </p:cNvSpPr>
          <p:nvPr>
            <p:ph type="body" hasCustomPrompt="1"/>
          </p:nvPr>
        </p:nvSpPr>
        <p:spPr>
          <a:xfrm>
            <a:off x="343440" y="1459800"/>
            <a:ext cx="3094200" cy="3340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numCol="1" spcCol="0" anchor="t">
            <a:noAutofit/>
          </a:bodyPr>
          <a:lstStyle>
            <a:lvl1pPr algn="l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defRPr>
            </a:lvl1pPr>
            <a:lvl2pPr lvl="1" algn="l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defRPr>
            </a:lvl3pPr>
            <a:lvl4pPr lvl="3" algn="l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defRPr>
            </a:lvl4pPr>
            <a:lvl5pPr lvl="4" algn="l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defRPr>
            </a:lvl5pPr>
            <a:lvl6pPr lvl="5" algn="l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defRPr>
            </a:lvl6pPr>
            <a:lvl7pPr lvl="6" algn="l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defRPr>
            </a:lvl7pPr>
          </a:lstStyle>
          <a:p>
            <a:pPr marL="457200" indent="-304800" algn="l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Click to edit the outline text format</a:t>
            </a:r>
          </a:p>
          <a:p>
            <a:pPr marL="914400" lvl="1" indent="-304800" algn="l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Second Outline Level</a:t>
            </a:r>
          </a:p>
          <a:p>
            <a:pPr marL="1371600" lvl="2" indent="-304800" algn="l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Third Outline Level</a:t>
            </a:r>
          </a:p>
          <a:p>
            <a:pPr marL="1828800" lvl="3" indent="-304800" algn="l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Fourth Outline Level</a:t>
            </a:r>
          </a:p>
          <a:p>
            <a:pPr marL="2286000" lvl="4" indent="-304800" algn="l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Fifth Outline Level</a:t>
            </a:r>
          </a:p>
          <a:p>
            <a:pPr marL="2743200" lvl="5" indent="-304800" algn="l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Sixth Outline Level</a:t>
            </a:r>
          </a:p>
          <a:p>
            <a:pPr marL="3200400" lvl="6" indent="-304800" algn="l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in poin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8;p5"/>
          <p:cNvPicPr/>
          <p:nvPr/>
        </p:nvPicPr>
        <p:blipFill>
          <a:blip r:embed="rId2"/>
          <a:stretch>
            <a:fillRect/>
          </a:stretch>
        </p:blipFill>
        <p:spPr>
          <a:xfrm>
            <a:off x="8481960" y="139680"/>
            <a:ext cx="1439640" cy="294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" name="Google Shape;10;p5"/>
          <p:cNvPicPr/>
          <p:nvPr/>
        </p:nvPicPr>
        <p:blipFill>
          <a:blip r:embed="rId3"/>
          <a:srcRect t="6693"/>
          <a:stretch>
            <a:fillRect/>
          </a:stretch>
        </p:blipFill>
        <p:spPr>
          <a:xfrm>
            <a:off x="8582040" y="4282920"/>
            <a:ext cx="1495080" cy="1120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" name="Google Shape;11;p5"/>
          <p:cNvPicPr/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26680" cy="1101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" name="Google Shape;12;p5"/>
          <p:cNvSpPr/>
          <p:nvPr/>
        </p:nvSpPr>
        <p:spPr>
          <a:xfrm>
            <a:off x="9472680" y="4849920"/>
            <a:ext cx="502920" cy="41400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</a:pPr>
            <a:fld id="{B77A0907-56AA-46EF-A114-740661CAD1A5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 panose="020B0604020202020204"/>
              </a:rPr>
              <a:t>‹#›</a:t>
            </a:fld>
            <a:endParaRPr lang="en-IN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9" name="PlaceHolder 1"/>
          <p:cNvSpPr>
            <a:spLocks noGrp="1"/>
          </p:cNvSpPr>
          <p:nvPr>
            <p:ph type="title" hasCustomPrompt="1"/>
          </p:nvPr>
        </p:nvSpPr>
        <p:spPr>
          <a:xfrm>
            <a:off x="540360" y="473040"/>
            <a:ext cx="7017480" cy="4297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numCol="1" spcCol="0" anchor="ctr">
            <a:noAutofit/>
          </a:bodyPr>
          <a:lstStyle>
            <a:lvl1pPr indent="0" algn="l">
              <a:buNone/>
              <a:defRPr lang="en-US" sz="4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defRPr>
            </a:lvl1pPr>
          </a:lstStyle>
          <a:p>
            <a:pPr indent="0" algn="l">
              <a:buNone/>
            </a:pPr>
            <a:r>
              <a:rPr lang="en-US" sz="4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title and description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oogle Shape;8;p5"/>
          <p:cNvPicPr/>
          <p:nvPr/>
        </p:nvPicPr>
        <p:blipFill>
          <a:blip r:embed="rId2"/>
          <a:stretch>
            <a:fillRect/>
          </a:stretch>
        </p:blipFill>
        <p:spPr>
          <a:xfrm>
            <a:off x="8481960" y="139680"/>
            <a:ext cx="1439640" cy="294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1" name="Google Shape;10;p5"/>
          <p:cNvPicPr/>
          <p:nvPr/>
        </p:nvPicPr>
        <p:blipFill>
          <a:blip r:embed="rId3"/>
          <a:srcRect t="6693"/>
          <a:stretch>
            <a:fillRect/>
          </a:stretch>
        </p:blipFill>
        <p:spPr>
          <a:xfrm>
            <a:off x="8582040" y="4282920"/>
            <a:ext cx="1495080" cy="1120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2" name="Google Shape;11;p5"/>
          <p:cNvPicPr/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26680" cy="1101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" name="Google Shape;12;p5"/>
          <p:cNvSpPr/>
          <p:nvPr/>
        </p:nvSpPr>
        <p:spPr>
          <a:xfrm>
            <a:off x="9472680" y="4849920"/>
            <a:ext cx="502920" cy="41400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</a:pPr>
            <a:fld id="{7D02A9A0-78C0-4416-BAEC-706D900F1CA3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 panose="020B0604020202020204"/>
              </a:rPr>
              <a:t>‹#›</a:t>
            </a:fld>
            <a:endParaRPr lang="en-IN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4" name="Google Shape;33;p12"/>
          <p:cNvSpPr/>
          <p:nvPr/>
        </p:nvSpPr>
        <p:spPr>
          <a:xfrm>
            <a:off x="5038560" y="0"/>
            <a:ext cx="5038200" cy="5403600"/>
          </a:xfrm>
          <a:prstGeom prst="rect">
            <a:avLst/>
          </a:prstGeom>
          <a:solidFill>
            <a:schemeClr val="tx2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5" name="PlaceHolder 1"/>
          <p:cNvSpPr>
            <a:spLocks noGrp="1"/>
          </p:cNvSpPr>
          <p:nvPr>
            <p:ph type="title" hasCustomPrompt="1"/>
          </p:nvPr>
        </p:nvSpPr>
        <p:spPr>
          <a:xfrm>
            <a:off x="292680" y="1295640"/>
            <a:ext cx="4457880" cy="1557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numCol="1" spcCol="0" anchor="b">
            <a:noAutofit/>
          </a:bodyPr>
          <a:lstStyle>
            <a:lvl1pPr indent="0" algn="l">
              <a:buNone/>
              <a:defRPr lang="en-US" sz="42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defRPr>
            </a:lvl1pPr>
          </a:lstStyle>
          <a:p>
            <a:pPr indent="0" algn="l">
              <a:buNone/>
            </a:pPr>
            <a:r>
              <a:rPr lang="en-US" sz="42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</a:p>
        </p:txBody>
      </p:sp>
      <p:sp>
        <p:nvSpPr>
          <p:cNvPr id="36" name="PlaceHolder 2"/>
          <p:cNvSpPr>
            <a:spLocks noGrp="1"/>
          </p:cNvSpPr>
          <p:nvPr>
            <p:ph type="body" hasCustomPrompt="1"/>
          </p:nvPr>
        </p:nvSpPr>
        <p:spPr>
          <a:xfrm>
            <a:off x="5443920" y="760680"/>
            <a:ext cx="4228200" cy="3881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numCol="1" spcCol="0" anchor="ctr">
            <a:noAutofit/>
          </a:bodyPr>
          <a:lstStyle>
            <a:lvl1pPr algn="l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defRPr>
            </a:lvl1pPr>
            <a:lvl2pPr lvl="1" algn="l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defRPr>
            </a:lvl3pPr>
            <a:lvl4pPr lvl="3" algn="l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defRPr>
            </a:lvl4pPr>
            <a:lvl5pPr lvl="4" algn="l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defRPr>
            </a:lvl5pPr>
            <a:lvl6pPr lvl="5" algn="l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defRPr>
            </a:lvl6pPr>
            <a:lvl7pPr lvl="6" algn="l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defRPr>
            </a:lvl7pPr>
          </a:lstStyle>
          <a:p>
            <a:pPr marL="457200" indent="-342900" algn="l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Click to edit the outline text format</a:t>
            </a:r>
          </a:p>
          <a:p>
            <a:pPr marL="914400" lvl="1" indent="-317500" algn="l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Second Outline Level</a:t>
            </a:r>
          </a:p>
          <a:p>
            <a:pPr marL="1371600" lvl="2" indent="-317500" algn="l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Third Outline Level</a:t>
            </a:r>
          </a:p>
          <a:p>
            <a:pPr marL="1828800" lvl="3" indent="-317500" algn="l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Fourth Outline Level</a:t>
            </a:r>
          </a:p>
          <a:p>
            <a:pPr marL="2286000" lvl="4" indent="-317500" algn="l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Fifth Outline Level</a:t>
            </a:r>
          </a:p>
          <a:p>
            <a:pPr marL="2743200" lvl="5" indent="-317500" algn="l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Sixth Outline Level</a:t>
            </a:r>
          </a:p>
          <a:p>
            <a:pPr marL="3200400" lvl="6" indent="-317500" algn="l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Seventh Outline Level</a:t>
            </a:r>
          </a:p>
        </p:txBody>
      </p:sp>
      <p:sp>
        <p:nvSpPr>
          <p:cNvPr id="37" name="PlaceHolder 3"/>
          <p:cNvSpPr>
            <a:spLocks noGrp="1"/>
          </p:cNvSpPr>
          <p:nvPr>
            <p:ph type="sldNum" idx="1"/>
          </p:nvPr>
        </p:nvSpPr>
        <p:spPr>
          <a:xfrm>
            <a:off x="9337680" y="4898880"/>
            <a:ext cx="604440" cy="414000"/>
          </a:xfrm>
          <a:prstGeom prst="rect">
            <a:avLst/>
          </a:prstGeom>
          <a:noFill/>
          <a:ln w="9360">
            <a:noFill/>
          </a:ln>
        </p:spPr>
        <p:txBody>
          <a:bodyPr lIns="91440" tIns="91440" rIns="91440" bIns="91440" numCol="1" spcCol="0" anchor="ctr">
            <a:noAutofit/>
          </a:bodyPr>
          <a:lstStyle>
            <a:lvl1pPr indent="0" algn="l">
              <a:lnSpc>
                <a:spcPct val="100000"/>
              </a:lnSpc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fld id="{590127DD-8ECA-4525-A1CC-F5CCBBFF2FD0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‹#›</a:t>
            </a:fld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aption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oogle Shape;8;p5"/>
          <p:cNvPicPr/>
          <p:nvPr/>
        </p:nvPicPr>
        <p:blipFill>
          <a:blip r:embed="rId2"/>
          <a:stretch>
            <a:fillRect/>
          </a:stretch>
        </p:blipFill>
        <p:spPr>
          <a:xfrm>
            <a:off x="8481960" y="139680"/>
            <a:ext cx="1439640" cy="294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9" name="Google Shape;10;p5"/>
          <p:cNvPicPr/>
          <p:nvPr/>
        </p:nvPicPr>
        <p:blipFill>
          <a:blip r:embed="rId3"/>
          <a:srcRect t="6693"/>
          <a:stretch>
            <a:fillRect/>
          </a:stretch>
        </p:blipFill>
        <p:spPr>
          <a:xfrm>
            <a:off x="8582040" y="4282920"/>
            <a:ext cx="1495080" cy="1120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0" name="Google Shape;11;p5"/>
          <p:cNvPicPr/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26680" cy="1101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" name="Google Shape;12;p5"/>
          <p:cNvSpPr/>
          <p:nvPr/>
        </p:nvSpPr>
        <p:spPr>
          <a:xfrm>
            <a:off x="9472680" y="4849920"/>
            <a:ext cx="502920" cy="41400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</a:pPr>
            <a:fld id="{F96D2CD5-3B5C-4C74-B854-E302A47123D5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 panose="020B0604020202020204"/>
              </a:rPr>
              <a:t>‹#›</a:t>
            </a:fld>
            <a:endParaRPr lang="en-IN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42" name="PlaceHolder 1"/>
          <p:cNvSpPr>
            <a:spLocks noGrp="1"/>
          </p:cNvSpPr>
          <p:nvPr>
            <p:ph type="body" hasCustomPrompt="1"/>
          </p:nvPr>
        </p:nvSpPr>
        <p:spPr>
          <a:xfrm>
            <a:off x="343440" y="4444560"/>
            <a:ext cx="6610680" cy="635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numCol="1" spcCol="0" anchor="ctr">
            <a:noAutofit/>
          </a:bodyPr>
          <a:lstStyle>
            <a:lvl1pPr algn="l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defRPr>
            </a:lvl1pPr>
            <a:lvl2pPr lvl="1" algn="l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defRPr>
            </a:lvl3pPr>
            <a:lvl4pPr lvl="3" algn="l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defRPr>
            </a:lvl4pPr>
            <a:lvl5pPr lvl="4" algn="l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defRPr>
            </a:lvl5pPr>
            <a:lvl6pPr lvl="5" algn="l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defRPr>
            </a:lvl6pPr>
            <a:lvl7pPr lvl="6" algn="l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defRPr>
            </a:lvl7pPr>
          </a:lstStyle>
          <a:p>
            <a:pPr marL="457200" indent="-228600" algn="l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Click to edit the outline text format</a:t>
            </a:r>
          </a:p>
          <a:p>
            <a:pPr marL="742950" lvl="1" indent="-285750" algn="l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Second Outline Level</a:t>
            </a:r>
          </a:p>
          <a:p>
            <a:pPr marL="1143000" lvl="2" indent="-228600" algn="l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Third Outline Level</a:t>
            </a:r>
          </a:p>
          <a:p>
            <a:pPr marL="1600200" lvl="3" indent="-228600" algn="l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Fourth Outline Level</a:t>
            </a:r>
          </a:p>
          <a:p>
            <a:pPr marL="2057400" lvl="4" indent="-228600" algn="l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Fifth Outline Level</a:t>
            </a:r>
          </a:p>
          <a:p>
            <a:pPr marL="2592070" lvl="5" indent="-215900" algn="l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Sixth Outline Level</a:t>
            </a:r>
          </a:p>
          <a:p>
            <a:pPr marL="3023870" lvl="6" indent="-215900" algn="l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ig numb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8;p5"/>
          <p:cNvPicPr/>
          <p:nvPr/>
        </p:nvPicPr>
        <p:blipFill>
          <a:blip r:embed="rId2"/>
          <a:stretch>
            <a:fillRect/>
          </a:stretch>
        </p:blipFill>
        <p:spPr>
          <a:xfrm>
            <a:off x="8481960" y="139680"/>
            <a:ext cx="1439640" cy="294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4" name="Google Shape;10;p5"/>
          <p:cNvPicPr/>
          <p:nvPr/>
        </p:nvPicPr>
        <p:blipFill>
          <a:blip r:embed="rId3"/>
          <a:srcRect t="6693"/>
          <a:stretch>
            <a:fillRect/>
          </a:stretch>
        </p:blipFill>
        <p:spPr>
          <a:xfrm>
            <a:off x="8582040" y="4282920"/>
            <a:ext cx="1495080" cy="1120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5" name="Google Shape;11;p5"/>
          <p:cNvPicPr/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26680" cy="1101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" name="Google Shape;12;p5"/>
          <p:cNvSpPr/>
          <p:nvPr/>
        </p:nvSpPr>
        <p:spPr>
          <a:xfrm>
            <a:off x="9472680" y="4849920"/>
            <a:ext cx="502920" cy="41400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</a:pPr>
            <a:fld id="{587EE6EB-6699-4FA9-8BB8-ED5579EEC759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 panose="020B0604020202020204"/>
              </a:rPr>
              <a:t>‹#›</a:t>
            </a:fld>
            <a:endParaRPr lang="en-IN" sz="1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343440" y="1162080"/>
            <a:ext cx="9389880" cy="2062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numCol="1" spcCol="0" anchor="b">
            <a:noAutofit/>
          </a:bodyPr>
          <a:lstStyle>
            <a:lvl1pPr indent="0" algn="ctr">
              <a:lnSpc>
                <a:spcPct val="100000"/>
              </a:lnSpc>
              <a:buNone/>
              <a:defRPr lang="en-US" sz="1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  <a:ea typeface="Arial" panose="020B0604020202020204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lang="en-US" sz="1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Click to edit Master title style</a:t>
            </a:r>
            <a:endParaRPr lang="en-US" sz="1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 hasCustomPrompt="1"/>
          </p:nvPr>
        </p:nvSpPr>
        <p:spPr>
          <a:xfrm>
            <a:off x="343440" y="3311640"/>
            <a:ext cx="9389880" cy="1366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numCol="1" spcCol="0" anchor="t">
            <a:noAutofit/>
          </a:bodyPr>
          <a:lstStyle>
            <a:lvl1pPr algn="l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defRPr>
            </a:lvl1pPr>
            <a:lvl2pPr lvl="1" algn="l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defRPr>
            </a:lvl3pPr>
            <a:lvl4pPr lvl="3" algn="l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defRPr>
            </a:lvl4pPr>
            <a:lvl5pPr lvl="4" algn="l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defRPr>
            </a:lvl5pPr>
            <a:lvl6pPr lvl="5" algn="l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defRPr>
            </a:lvl6pPr>
            <a:lvl7pPr lvl="6" algn="l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defRPr>
            </a:lvl7pPr>
          </a:lstStyle>
          <a:p>
            <a:pPr marL="457200" indent="-342900" algn="l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Click to edit the outline text format</a:t>
            </a:r>
          </a:p>
          <a:p>
            <a:pPr marL="914400" lvl="1" indent="-317500" algn="l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Second Outline Level</a:t>
            </a:r>
          </a:p>
          <a:p>
            <a:pPr marL="1371600" lvl="2" indent="-317500" algn="l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Third Outline Level</a:t>
            </a:r>
          </a:p>
          <a:p>
            <a:pPr marL="1828800" lvl="3" indent="-317500" algn="l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Fourth Outline Level</a:t>
            </a:r>
          </a:p>
          <a:p>
            <a:pPr marL="2286000" lvl="4" indent="-317500" algn="l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Fifth Outline Level</a:t>
            </a:r>
          </a:p>
          <a:p>
            <a:pPr marL="2743200" lvl="5" indent="-317500" algn="l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Sixth Outline Level</a:t>
            </a:r>
          </a:p>
          <a:p>
            <a:pPr marL="3200400" lvl="6" indent="-317500" algn="l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Seventh Outline Level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8412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0B3B60"/>
                </a:solidFill>
                <a:latin typeface="Georgia"/>
              </a:defRPr>
            </a:pPr>
            <a:r>
              <a:t>Customer Churn Prediction &amp; Business Intelligence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C8102E"/>
                </a:solidFill>
              </a:defRPr>
            </a:pPr>
            <a:r>
              <a:t>Domain: Business – Data Science &amp; Telecom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34640"/>
            <a:ext cx="4114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B3B60"/>
                </a:solidFill>
              </a:defRPr>
            </a:pPr>
            <a:r>
              <a:t>Team No: 8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Bekkem Kalyan (23EG110C09)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Eramolla Aryan Preetham (23EG110C21)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Tirumala Peddinty Vijaya Krishna Sreekar (23EG110C60)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0" y="2834640"/>
            <a:ext cx="4023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B3B60"/>
                </a:solidFill>
              </a:defRPr>
            </a:pPr>
            <a:r>
              <a:t>Under the Guidance of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Mr. Biksham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Assistant Professor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Department of Data Science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Anurag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400" b="1">
                <a:solidFill>
                  <a:srgbClr val="0B3B60"/>
                </a:solidFill>
                <a:latin typeface="Georgia"/>
              </a:defRPr>
            </a:pPr>
            <a:r>
              <a:t>Abstract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88720"/>
            <a:ext cx="8046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1E293B"/>
                </a:solidFill>
              </a:defRPr>
            </a:pPr>
            <a:r>
              <a:t>Customer churn is a critical business challenge in the telecom industry where retaining existing customers is 5 to 7 times more cost-effective than acquiring new ones. This project presents an end-to-end Machine Learning and Business Intelligence System designed to predict customer churn accurately and deliver actionable insights for customer retention.</a:t>
            </a:r>
          </a:p>
          <a:p>
            <a:pPr>
              <a:spcAft>
                <a:spcPts val="600"/>
              </a:spcAft>
              <a:defRPr sz="1400" b="1">
                <a:solidFill>
                  <a:srgbClr val="0B3B60"/>
                </a:solidFill>
              </a:defRPr>
            </a:pPr>
            <a:r>
              <a:t>Key System Capabilities: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• Analyzes 7,043 customer records across 21 demographic, service, and billing attributes.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• Implements advanced preprocessing, outlier treatment, and SMOTE balancing to solve class imbalance.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• Trains and evaluates multiple algorithms (Random Forest, Logistic Regression, XGBoost) achieving 83.62% ROC-AUC.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• Integrates a SQLite database and an interactive Streamlit Web Dashboard for live predictions and SQL cohort analytics.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400" b="1">
                <a:solidFill>
                  <a:srgbClr val="0B3B60"/>
                </a:solidFill>
                <a:latin typeface="Georgia"/>
              </a:defRPr>
            </a:pPr>
            <a: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97280"/>
            <a:ext cx="8046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C8102E"/>
                </a:solidFill>
              </a:defRPr>
            </a:pPr>
            <a:r>
              <a:t>Problem Context &amp; Industry Challenge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• Telecom service providers experience heavy revenue loss due to customer contract cancellations (churn).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• Manual identification of at-risk customers is ineffective due to complex, multi-dimensional customer behavioral patterns.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• Unaddressed churn results in high acquisition overheads, reduced customer lifetime value (CLV), and diminished market share.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500" b="1">
                <a:solidFill>
                  <a:srgbClr val="0B3B60"/>
                </a:solidFill>
              </a:defRPr>
            </a:pPr>
            <a:r>
              <a:t>Proposed Solution &amp; Data Flow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• Data Ingestion → Clean &amp; Preprocess → Feature Engineering (SMOTE) → Multi-Model ML Training → SQL Analytics → Streamlit UI.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• Enables telecom managers to proactively intervene with targeted discounts, tenure perks, and service upgrades before churn occurs.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400" b="1">
                <a:solidFill>
                  <a:srgbClr val="0B3B60"/>
                </a:solidFill>
                <a:latin typeface="Georgia"/>
              </a:defRPr>
            </a:pPr>
            <a:r>
              <a:t>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88720"/>
            <a:ext cx="8046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50">
                <a:solidFill>
                  <a:srgbClr val="1E293B"/>
                </a:solidFill>
              </a:defRPr>
            </a:pPr>
            <a:r>
              <a:t>1. End-to-End Data Pipeline &amp; Feature Engineering: Ingest, clean, and preprocess the IBM Telco Churn dataset, engineering composite risk metrics and applying SMOTE to address class imbalance.</a:t>
            </a:r>
          </a:p>
          <a:p>
            <a:pPr>
              <a:spcAft>
                <a:spcPts val="1200"/>
              </a:spcAft>
              <a:defRPr sz="1350">
                <a:solidFill>
                  <a:srgbClr val="1E293B"/>
                </a:solidFill>
              </a:defRPr>
            </a:pPr>
            <a:r>
              <a:t>2. Predictive Model Optimization: Train and validate Machine Learning classifiers (Random Forest, XGBoost, Logistic Regression) to accurately identify churn patterns with high ROC-AUC and Recall.</a:t>
            </a:r>
          </a:p>
          <a:p>
            <a:pPr>
              <a:spcAft>
                <a:spcPts val="1200"/>
              </a:spcAft>
              <a:defRPr sz="1350">
                <a:solidFill>
                  <a:srgbClr val="1E293B"/>
                </a:solidFill>
              </a:defRPr>
            </a:pPr>
            <a:r>
              <a:t>3. Financial &amp; Cohort Analytics Engine: Build a robust SQL-powered analytics database to calculate monthly revenue at risk and isolate high-churn customer segments.</a:t>
            </a:r>
          </a:p>
          <a:p>
            <a:pPr>
              <a:spcAft>
                <a:spcPts val="1200"/>
              </a:spcAft>
              <a:defRPr sz="1350">
                <a:solidFill>
                  <a:srgbClr val="1E293B"/>
                </a:solidFill>
              </a:defRPr>
            </a:pPr>
            <a:r>
              <a:t>4. Interactive Decision Support Dashboard: Deploy a real-time Streamlit web dashboard for instant single/batch churn prediction and executive reporting.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400" b="1">
                <a:solidFill>
                  <a:srgbClr val="0B3B60"/>
                </a:solidFill>
                <a:latin typeface="Georgia"/>
              </a:defRPr>
            </a:pPr>
            <a:r>
              <a:t>Literature Survey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86868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1645920"/>
                <a:gridCol w="1828800"/>
                <a:gridCol w="1645920"/>
                <a:gridCol w="1737360"/>
                <a:gridCol w="1280160"/>
              </a:tblGrid>
              <a:tr h="579120">
                <a:tc>
                  <a:txBody>
                    <a:bodyPr/>
                    <a:lstStyle/>
                    <a:p>
                      <a:pPr algn="ctr"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S.No</a:t>
                      </a:r>
                    </a:p>
                  </a:txBody>
                  <a:tcPr>
                    <a:solidFill>
                      <a:srgbClr val="0B3B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Author &amp; Year</a:t>
                      </a:r>
                    </a:p>
                  </a:txBody>
                  <a:tcPr>
                    <a:solidFill>
                      <a:srgbClr val="0B3B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Method Used</a:t>
                      </a:r>
                    </a:p>
                  </a:txBody>
                  <a:tcPr>
                    <a:solidFill>
                      <a:srgbClr val="0B3B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Proposed Model</a:t>
                      </a:r>
                    </a:p>
                  </a:txBody>
                  <a:tcPr>
                    <a:solidFill>
                      <a:srgbClr val="0B3B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Drawbacks</a:t>
                      </a:r>
                    </a:p>
                  </a:txBody>
                  <a:tcPr>
                    <a:solidFill>
                      <a:srgbClr val="0B3B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Source</a:t>
                      </a:r>
                    </a:p>
                  </a:txBody>
                  <a:tcPr>
                    <a:solidFill>
                      <a:srgbClr val="0B3B60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Ning Lu et al. (2014)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Boosting with Customer Segmentation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Telecom churn prediction via Boosting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High computational cost; lacks real-time UI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IEEE Trans. Ind. Inf.</a:t>
                      </a:r>
                    </a:p>
                  </a:txBody>
                  <a:tcPr/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A. K. Ahmad et al. (2019)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ML + Social Network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DT, Random Forest, XGBoost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Requires heavy infrastructure &amp; big data pipelines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J. of Big Data</a:t>
                      </a:r>
                    </a:p>
                  </a:txBody>
                  <a:tcPr/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Irfan Ullah et al. (2019)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Random Forest + K-Means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RF with customer clustering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Complex multi-stage setup; no SQL cohort engine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IEEE Access</a:t>
                      </a:r>
                    </a:p>
                  </a:txBody>
                  <a:tcPr/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Shimaa Ouf et al. (2024)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Hybrid ML Framework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Ensemble Stacking Classifiers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High inference latency; no interactive retention UI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Springer</a:t>
                      </a:r>
                    </a:p>
                  </a:txBody>
                  <a:tcPr/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Rohit Sharma et al. (2025)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EDA + Multi-Model 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RF, SVM, Logistic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Single dataset evaluation; no business risk quantification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IEEE ICONAT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400" b="1">
                <a:solidFill>
                  <a:srgbClr val="0B3B60"/>
                </a:solidFill>
                <a:latin typeface="Georgia"/>
              </a:defRPr>
            </a:pPr>
            <a:r>
              <a:t>Existing Work and 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97280"/>
            <a:ext cx="8046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0B3B60"/>
                </a:solidFill>
              </a:defRPr>
            </a:pPr>
            <a:r>
              <a:t>Current / Existing Industry Approaches</a:t>
            </a:r>
          </a:p>
          <a:p>
            <a:pPr>
              <a:spcAft>
                <a:spcPts val="300"/>
              </a:spcAft>
              <a:defRPr sz="1250">
                <a:solidFill>
                  <a:srgbClr val="1E293B"/>
                </a:solidFill>
              </a:defRPr>
            </a:pPr>
            <a:r>
              <a:t>• Traditional Rule-Based Analytics: Many telecom providers rely on static heuristic threshold rules (e.g., flag accounts after 2 missed bills).</a:t>
            </a:r>
          </a:p>
          <a:p>
            <a:pPr>
              <a:spcAft>
                <a:spcPts val="300"/>
              </a:spcAft>
              <a:defRPr sz="1250">
                <a:solidFill>
                  <a:srgbClr val="1E293B"/>
                </a:solidFill>
              </a:defRPr>
            </a:pPr>
            <a:r>
              <a:t>• Isolated Model Experiments: Prior studies focus exclusively on model training accuracy without deploying end-to-end usable business applications.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500" b="1">
                <a:solidFill>
                  <a:srgbClr val="C8102E"/>
                </a:solidFill>
              </a:defRPr>
            </a:pPr>
            <a:r>
              <a:t>Key Limitations of Existing Systems</a:t>
            </a:r>
          </a:p>
          <a:p>
            <a:pPr>
              <a:spcAft>
                <a:spcPts val="300"/>
              </a:spcAft>
              <a:defRPr sz="1250">
                <a:solidFill>
                  <a:srgbClr val="1E293B"/>
                </a:solidFill>
              </a:defRPr>
            </a:pPr>
            <a:r>
              <a:t>• Neglect of Class Imbalance: Churn datasets typically have a ~73:27 majority-minority split, causing standard models to be biased toward non-churners.</a:t>
            </a:r>
          </a:p>
          <a:p>
            <a:pPr>
              <a:spcAft>
                <a:spcPts val="300"/>
              </a:spcAft>
              <a:defRPr sz="1250">
                <a:solidFill>
                  <a:srgbClr val="1E293B"/>
                </a:solidFill>
              </a:defRPr>
            </a:pPr>
            <a:r>
              <a:t>• Lack of Revenue Quantification: Existing solutions predict binary labels (0/1) but fail to quantify the direct financial revenue at risk ($/month).</a:t>
            </a:r>
          </a:p>
          <a:p>
            <a:pPr>
              <a:spcAft>
                <a:spcPts val="300"/>
              </a:spcAft>
              <a:defRPr sz="1250">
                <a:solidFill>
                  <a:srgbClr val="1E293B"/>
                </a:solidFill>
              </a:defRPr>
            </a:pPr>
            <a:r>
              <a:t>• Absence of Real-Time Decision Support: Most models operate in offline batch scripts without an accessible web interface for customer support teams.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400" b="1">
                <a:solidFill>
                  <a:srgbClr val="0B3B60"/>
                </a:solidFill>
                <a:latin typeface="Georgia"/>
              </a:defRPr>
            </a:pPr>
            <a:r>
              <a:t>Proposed Work and Advantages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97280"/>
            <a:ext cx="8046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0B3B60"/>
                </a:solidFill>
              </a:defRPr>
            </a:pPr>
            <a:r>
              <a:t>Our Proposed Methodology</a:t>
            </a:r>
          </a:p>
          <a:p>
            <a:pPr>
              <a:spcAft>
                <a:spcPts val="300"/>
              </a:spcAft>
              <a:defRPr sz="1250">
                <a:solidFill>
                  <a:srgbClr val="1E293B"/>
                </a:solidFill>
              </a:defRPr>
            </a:pPr>
            <a:r>
              <a:t>• End-to-End Automated Pipeline: Comprehensive orchestration from raw CSV ingestion to automated EDA, SMOTE balancing, SQL storage, and web UI.</a:t>
            </a:r>
          </a:p>
          <a:p>
            <a:pPr>
              <a:spcAft>
                <a:spcPts val="300"/>
              </a:spcAft>
              <a:defRPr sz="1250">
                <a:solidFill>
                  <a:srgbClr val="1E293B"/>
                </a:solidFill>
              </a:defRPr>
            </a:pPr>
            <a:r>
              <a:t>• Advanced Feature Engineering: Creation of domain-specific features including ChargesPerTenure, ServiceCount, and a composite RiskScore.</a:t>
            </a:r>
          </a:p>
          <a:p>
            <a:pPr>
              <a:spcAft>
                <a:spcPts val="300"/>
              </a:spcAft>
              <a:defRPr sz="1250">
                <a:solidFill>
                  <a:srgbClr val="1E293B"/>
                </a:solidFill>
              </a:defRPr>
            </a:pPr>
            <a:r>
              <a:t>• Multi-Model Comparative Benchmarking: Rigorous evaluation of Random Forest, XGBoost, and Logistic Regression with cross-validation.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500" b="1">
                <a:solidFill>
                  <a:srgbClr val="047857"/>
                </a:solidFill>
              </a:defRPr>
            </a:pPr>
            <a:r>
              <a:t>Key Advantages of the Proposed System</a:t>
            </a:r>
          </a:p>
          <a:p>
            <a:pPr>
              <a:spcAft>
                <a:spcPts val="300"/>
              </a:spcAft>
              <a:defRPr sz="1250">
                <a:solidFill>
                  <a:srgbClr val="1E293B"/>
                </a:solidFill>
              </a:defRPr>
            </a:pPr>
            <a:r>
              <a:t>• High Predictive Reliability: Achieved 83.62% ROC-AUC and 70.43% churn recall, effectively capturing at-risk subscribers.</a:t>
            </a:r>
          </a:p>
          <a:p>
            <a:pPr>
              <a:spcAft>
                <a:spcPts val="300"/>
              </a:spcAft>
              <a:defRPr sz="1250">
                <a:solidFill>
                  <a:srgbClr val="1E293B"/>
                </a:solidFill>
              </a:defRPr>
            </a:pPr>
            <a:r>
              <a:t>• Quantified Financial Impact: SQL analytics calculates exact revenue at risk ($138,529/mo) to prioritize high-value customer retention.</a:t>
            </a:r>
          </a:p>
          <a:p>
            <a:pPr>
              <a:spcAft>
                <a:spcPts val="300"/>
              </a:spcAft>
              <a:defRPr sz="1250">
                <a:solidFill>
                  <a:srgbClr val="1E293B"/>
                </a:solidFill>
              </a:defRPr>
            </a:pPr>
            <a:r>
              <a:t>• Operational Ready: Includes an intuitive Streamlit dashboard allowing non-technical managers to run instant real-time predictions.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400" b="1">
                <a:solidFill>
                  <a:srgbClr val="0B3B60"/>
                </a:solidFill>
                <a:latin typeface="Georgia"/>
              </a:defRPr>
            </a:pPr>
            <a:r>
              <a:t>Software and Hardware Requirements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39319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B3B60"/>
                </a:solidFill>
              </a:defRPr>
            </a:pPr>
            <a:r>
              <a:t>Software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Operating System: Windows 10 / 11 / Linux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Programming Language: Python 3.9+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ML &amp; Data Libraries: Scikit-learn, XGBoost, Imbalanced-learn (SMOTE), Pandas, NumPy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Database Engine: SQLite3 &amp; SQLAlchemy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Visualization &amp; Web UI: Streamlit, Matplotlib, Seaborn, Plotly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Documentation &amp; Reports: python-pptx, python-docx, ReportLab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1097280"/>
            <a:ext cx="39319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C8102E"/>
                </a:solidFill>
              </a:defRPr>
            </a:pPr>
            <a:r>
              <a:t>Hardware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Processor: Intel Core i5 / AMD Ryzen 5 or higher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RAM: Minimum 8 GB (16 GB Recommended)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Storage: 500 MB free disk space for dataset, database &amp; models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Display: Standard Full HD (1920x1080) resolution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Connectivity: Active Internet connection for initial package installation and data retrieval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400" b="1">
                <a:solidFill>
                  <a:srgbClr val="0B3B60"/>
                </a:solidFill>
                <a:latin typeface="Georgia"/>
              </a:defRPr>
            </a:pPr>
            <a:r>
              <a:t>System Architecture</a:t>
            </a:r>
          </a:p>
        </p:txBody>
      </p:sp>
      <p:pic>
        <p:nvPicPr>
          <p:cNvPr id="5" name="Picture 4" descr="system_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51560"/>
            <a:ext cx="8138160" cy="374903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400" b="1">
                <a:solidFill>
                  <a:srgbClr val="0B3B60"/>
                </a:solidFill>
                <a:latin typeface="Georgia"/>
              </a:defRPr>
            </a:pPr>
            <a:r>
              <a:t>Modules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97280"/>
            <a:ext cx="8046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 b="1">
                <a:solidFill>
                  <a:srgbClr val="0B3B60"/>
                </a:solidFill>
              </a:defRPr>
            </a:pPr>
            <a:r>
              <a:t>• Module 1: Data Ingestion &amp; Preprocessing: </a:t>
            </a:r>
            <a:r>
              <a:rPr b="0">
                <a:solidFill>
                  <a:srgbClr val="1E293B"/>
                </a:solidFill>
              </a:rPr>
              <a:t>Handles raw CSV ingestion (7,043 rows), cleans whitespace/missing values in TotalCharges, encodes categorical variables, and performs standard feature scaling.</a:t>
            </a:r>
          </a:p>
          <a:p>
            <a:pPr>
              <a:spcAft>
                <a:spcPts val="500"/>
              </a:spcAft>
              <a:defRPr sz="1200" b="1">
                <a:solidFill>
                  <a:srgbClr val="0B3B60"/>
                </a:solidFill>
              </a:defRPr>
            </a:pPr>
            <a:r>
              <a:t>• Module 2: Feature Engineering &amp; SMOTE Resampling: </a:t>
            </a:r>
            <a:r>
              <a:rPr b="0">
                <a:solidFill>
                  <a:srgbClr val="1E293B"/>
                </a:solidFill>
              </a:rPr>
              <a:t>Derives predictive domain features (ChargesPerTenure, ServiceCount, RiskScore) and balances minority churn cases using SMOTE oversampling.</a:t>
            </a:r>
          </a:p>
          <a:p>
            <a:pPr>
              <a:spcAft>
                <a:spcPts val="500"/>
              </a:spcAft>
              <a:defRPr sz="1200" b="1">
                <a:solidFill>
                  <a:srgbClr val="0B3B60"/>
                </a:solidFill>
              </a:defRPr>
            </a:pPr>
            <a:r>
              <a:t>• Module 3: Model Training &amp; Evaluation Engine: </a:t>
            </a:r>
            <a:r>
              <a:rPr b="0">
                <a:solidFill>
                  <a:srgbClr val="1E293B"/>
                </a:solidFill>
              </a:rPr>
              <a:t>Trains Logistic Regression, Random Forest, and XGBoost with hyperparameter tuning; exports evaluation metrics (AUC, F1, Recall, Confusion Matrices).</a:t>
            </a:r>
          </a:p>
          <a:p>
            <a:pPr>
              <a:spcAft>
                <a:spcPts val="500"/>
              </a:spcAft>
              <a:defRPr sz="1200" b="1">
                <a:solidFill>
                  <a:srgbClr val="0B3B60"/>
                </a:solidFill>
              </a:defRPr>
            </a:pPr>
            <a:r>
              <a:t>• Module 4: SQL Business Intelligence &amp; Cohort Analytics: </a:t>
            </a:r>
            <a:r>
              <a:rPr b="0">
                <a:solidFill>
                  <a:srgbClr val="1E293B"/>
                </a:solidFill>
              </a:rPr>
              <a:t>Stores cleaned data into SQLite (churn.db) and executes 10 strategic SQL queries to evaluate cohort churn and calculate revenue at risk ($138K/mo).</a:t>
            </a:r>
          </a:p>
          <a:p>
            <a:pPr>
              <a:spcAft>
                <a:spcPts val="500"/>
              </a:spcAft>
              <a:defRPr sz="1200" b="1">
                <a:solidFill>
                  <a:srgbClr val="0B3B60"/>
                </a:solidFill>
              </a:defRPr>
            </a:pPr>
            <a:r>
              <a:t>• Module 5: Interactive Web Dashboard (Streamlit): </a:t>
            </a:r>
            <a:r>
              <a:rPr b="0">
                <a:solidFill>
                  <a:srgbClr val="1E293B"/>
                </a:solidFill>
              </a:rPr>
              <a:t>Provides a 5-page interactive web UI for real-time customer risk prediction, live database exploration, interactive charts, and PDF/Word report exports.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400" b="1">
                <a:solidFill>
                  <a:srgbClr val="0B3B60"/>
                </a:solidFill>
                <a:latin typeface="Georgia"/>
              </a:defRPr>
            </a:pPr>
            <a:r>
              <a:t>System Design &amp;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97280"/>
            <a:ext cx="8046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0B3B60"/>
                </a:solidFill>
              </a:defRPr>
            </a:pPr>
            <a:r>
              <a:t>Functional Design &amp; Layered Architecture</a:t>
            </a:r>
          </a:p>
          <a:p>
            <a:pPr>
              <a:spcAft>
                <a:spcPts val="400"/>
              </a:spcAft>
              <a:defRPr sz="1250">
                <a:solidFill>
                  <a:srgbClr val="1E293B"/>
                </a:solidFill>
              </a:defRPr>
            </a:pPr>
            <a:r>
              <a:t>• Presentation Layer: Streamlit Dashboard UI receiving real-time user inputs and rendering visual analytics.</a:t>
            </a:r>
          </a:p>
          <a:p>
            <a:pPr>
              <a:spcAft>
                <a:spcPts val="400"/>
              </a:spcAft>
              <a:defRPr sz="1250">
                <a:solidFill>
                  <a:srgbClr val="1E293B"/>
                </a:solidFill>
              </a:defRPr>
            </a:pPr>
            <a:r>
              <a:t>• Application / Service Layer: Python inference pipeline loading serialized models (`best_model.pkl`) and running live probability scoring.</a:t>
            </a:r>
          </a:p>
          <a:p>
            <a:pPr>
              <a:spcAft>
                <a:spcPts val="400"/>
              </a:spcAft>
              <a:defRPr sz="1250">
                <a:solidFill>
                  <a:srgbClr val="1E293B"/>
                </a:solidFill>
              </a:defRPr>
            </a:pPr>
            <a:r>
              <a:t>• Data &amp; Persistence Layer: SQLite Relational Database (`churn.db`) managing relational customer records, service contracts, and historical churn outcomes.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500" b="1">
                <a:solidFill>
                  <a:srgbClr val="C8102E"/>
                </a:solidFill>
              </a:defRPr>
            </a:pPr>
            <a:r>
              <a:t>Design Specifications &amp; Quality Attributes</a:t>
            </a:r>
          </a:p>
          <a:p>
            <a:pPr>
              <a:spcAft>
                <a:spcPts val="400"/>
              </a:spcAft>
              <a:defRPr sz="1250">
                <a:solidFill>
                  <a:srgbClr val="1E293B"/>
                </a:solidFill>
              </a:defRPr>
            </a:pPr>
            <a:r>
              <a:t>• Modularity: Decoupled architecture allowing independent model updates or data pipeline extensions.</a:t>
            </a:r>
          </a:p>
          <a:p>
            <a:pPr>
              <a:spcAft>
                <a:spcPts val="400"/>
              </a:spcAft>
              <a:defRPr sz="1250">
                <a:solidFill>
                  <a:srgbClr val="1E293B"/>
                </a:solidFill>
              </a:defRPr>
            </a:pPr>
            <a:r>
              <a:t>• Responsiveness &amp; Low Latency: Single customer churn predictions generated in &lt; 50ms.</a:t>
            </a:r>
          </a:p>
          <a:p>
            <a:pPr>
              <a:spcAft>
                <a:spcPts val="400"/>
              </a:spcAft>
              <a:defRPr sz="1250">
                <a:solidFill>
                  <a:srgbClr val="1E293B"/>
                </a:solidFill>
              </a:defRPr>
            </a:pPr>
            <a:r>
              <a:t>• Reliability &amp; Maintainability: Automated unit checks, structured logging, and persistent artifact generation.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400" b="1">
                <a:solidFill>
                  <a:srgbClr val="0B3B60"/>
                </a:solidFill>
                <a:latin typeface="Georgia"/>
              </a:defRPr>
            </a:pPr>
            <a:r>
              <a:t>Design - UML, ER &amp; DFD Diagrams</a:t>
            </a:r>
          </a:p>
        </p:txBody>
      </p:sp>
      <p:pic>
        <p:nvPicPr>
          <p:cNvPr id="5" name="Picture 4" descr="uml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114800" cy="1737360"/>
          </a:xfrm>
          <a:prstGeom prst="rect">
            <a:avLst/>
          </a:prstGeom>
        </p:spPr>
      </p:pic>
      <p:pic>
        <p:nvPicPr>
          <p:cNvPr id="6" name="Picture 5" descr="dfd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051560"/>
            <a:ext cx="4114800" cy="1737360"/>
          </a:xfrm>
          <a:prstGeom prst="rect">
            <a:avLst/>
          </a:prstGeom>
        </p:spPr>
      </p:pic>
      <p:pic>
        <p:nvPicPr>
          <p:cNvPr id="7" name="Picture 6" descr="er_diagr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7440" y="2880360"/>
            <a:ext cx="45720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8046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B3B60"/>
                </a:solidFill>
                <a:latin typeface="Georgia"/>
              </a:defRPr>
            </a:pPr>
            <a:r>
              <a:t>Thank You!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8046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C8102E"/>
                </a:solidFill>
              </a:defRPr>
            </a:pPr>
            <a:r>
              <a:t>Questions &amp; Feedback</a:t>
            </a:r>
          </a:p>
          <a:p>
            <a:pPr algn="ctr">
              <a:spcBef>
                <a:spcPts val="800"/>
              </a:spcBef>
              <a:defRPr sz="1400">
                <a:solidFill>
                  <a:srgbClr val="1E293B"/>
                </a:solidFill>
              </a:defRPr>
            </a:pPr>
            <a:r>
              <a:t>Team No: 8  |  Department of Data Science  |  Anurag University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sometric Resume Infographics by Slidesgo">
  <a:themeElements>
    <a:clrScheme name="Simple Light">
      <a:dk1>
        <a:srgbClr val="000000"/>
      </a:dk1>
      <a:lt1>
        <a:srgbClr val="FFFFFF"/>
      </a:lt1>
      <a:dk2>
        <a:srgbClr val="979797"/>
      </a:dk2>
      <a:lt2>
        <a:srgbClr val="DDDDDD"/>
      </a:lt2>
      <a:accent1>
        <a:srgbClr val="BA9CEC"/>
      </a:accent1>
      <a:accent2>
        <a:srgbClr val="FAA22F"/>
      </a:accent2>
      <a:accent3>
        <a:srgbClr val="FD675F"/>
      </a:accent3>
      <a:accent4>
        <a:srgbClr val="6DABF0"/>
      </a:accent4>
      <a:accent5>
        <a:srgbClr val="3E74B1"/>
      </a:accent5>
      <a:accent6>
        <a:srgbClr val="523BC0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</TotalTime>
  <Words>665</Words>
  <Application>Microsoft Office PowerPoint</Application>
  <PresentationFormat>Custom</PresentationFormat>
  <Paragraphs>115</Paragraphs>
  <Slides>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Times New Roman</vt:lpstr>
      <vt:lpstr>Symbol</vt:lpstr>
      <vt:lpstr>Georgia</vt:lpstr>
      <vt:lpstr>Arial</vt:lpstr>
      <vt:lpstr>Calibri</vt:lpstr>
      <vt:lpstr>Wingdings</vt:lpstr>
      <vt:lpstr>Isometric Resume Infographics by Slidesgo</vt:lpstr>
      <vt:lpstr>PowerPoint Presentation</vt:lpstr>
      <vt:lpstr>Abstract</vt:lpstr>
      <vt:lpstr>Introduction</vt:lpstr>
      <vt:lpstr>Literature Survey </vt:lpstr>
      <vt:lpstr>Objective</vt:lpstr>
      <vt:lpstr> Architecture </vt:lpstr>
      <vt:lpstr>Methodology</vt:lpstr>
      <vt:lpstr>Software &amp; Hardware Requirements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Anurag</dc:creator>
  <cp:lastModifiedBy>Sreekar Tp</cp:lastModifiedBy>
  <cp:revision>60</cp:revision>
  <dcterms:created xsi:type="dcterms:W3CDTF">2026-07-03T08:11:21Z</dcterms:created>
  <dcterms:modified xsi:type="dcterms:W3CDTF">2026-07-16T12:38:19Z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6</vt:i4>
  </property>
  <property fmtid="{D5CDD505-2E9C-101B-9397-08002B2CF9AE}" pid="3" name="PresentationFormat">
    <vt:lpwstr>Custom</vt:lpwstr>
  </property>
  <property fmtid="{D5CDD505-2E9C-101B-9397-08002B2CF9AE}" pid="4" name="Slides">
    <vt:i4>7</vt:i4>
  </property>
  <property fmtid="{D5CDD505-2E9C-101B-9397-08002B2CF9AE}" pid="5" name="ICV">
    <vt:lpwstr>78104E598C8948C9B650E987E9F8D71F_12</vt:lpwstr>
  </property>
  <property fmtid="{D5CDD505-2E9C-101B-9397-08002B2CF9AE}" pid="6" name="KSOProductBuildVer">
    <vt:lpwstr>1033-12.1.0.26880</vt:lpwstr>
  </property>
</Properties>
</file>