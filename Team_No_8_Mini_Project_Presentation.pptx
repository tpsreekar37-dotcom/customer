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077450" cy="540385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4E8E1D24-9906-40C6-8F2B-7E357513222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17605023-0A58-4502-81C6-92D04650765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503640" y="215280"/>
            <a:ext cx="9069120" cy="90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503640" y="1264320"/>
            <a:ext cx="9069120" cy="31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53BD362F-D796-41E8-8878-6BBC545F07B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2399040" y="430200"/>
            <a:ext cx="5279040" cy="3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 hasCustomPrompt="1"/>
          </p:nvPr>
        </p:nvSpPr>
        <p:spPr>
          <a:xfrm>
            <a:off x="503640" y="1264320"/>
            <a:ext cx="9069120" cy="31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3F57D650-F9C9-4132-8E83-02670C5F629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504000" y="430200"/>
            <a:ext cx="4534560" cy="53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 column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3604E80E-97D1-444C-A731-9B9CA689700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343440" y="583560"/>
            <a:ext cx="3094200" cy="79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343440" y="1459800"/>
            <a:ext cx="3094200" cy="334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t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3048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914400" lvl="1" indent="-30480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371600" lvl="2" indent="-3048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828800" lvl="3" indent="-3048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286000" lvl="4" indent="-3048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743200" lvl="5" indent="-3048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200400" lvl="6" indent="-3048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 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B77A0907-56AA-46EF-A114-740661CAD1A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 hasCustomPrompt="1"/>
          </p:nvPr>
        </p:nvSpPr>
        <p:spPr>
          <a:xfrm>
            <a:off x="540360" y="473040"/>
            <a:ext cx="7017480" cy="429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title and 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7D02A9A0-78C0-4416-BAEC-706D900F1CA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" name="Google Shape;33;p12"/>
          <p:cNvSpPr/>
          <p:nvPr/>
        </p:nvSpPr>
        <p:spPr>
          <a:xfrm>
            <a:off x="5038560" y="0"/>
            <a:ext cx="5038200" cy="54036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 hasCustomPrompt="1"/>
          </p:nvPr>
        </p:nvSpPr>
        <p:spPr>
          <a:xfrm>
            <a:off x="292680" y="1295640"/>
            <a:ext cx="4457880" cy="15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 hasCustomPrompt="1"/>
          </p:nvPr>
        </p:nvSpPr>
        <p:spPr>
          <a:xfrm>
            <a:off x="5443920" y="760680"/>
            <a:ext cx="4228200" cy="388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3429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914400" lvl="1" indent="-31750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371600" lvl="2" indent="-3175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828800" lvl="3" indent="-3175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286000" lvl="4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743200" lvl="5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200400" lvl="6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1"/>
          </p:nvPr>
        </p:nvSpPr>
        <p:spPr>
          <a:xfrm>
            <a:off x="9337680" y="4898880"/>
            <a:ext cx="604440" cy="414000"/>
          </a:xfrm>
          <a:prstGeom prst="rect">
            <a:avLst/>
          </a:prstGeom>
          <a:noFill/>
          <a:ln w="936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590127DD-8ECA-4525-A1CC-F5CCBBFF2F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F96D2CD5-3B5C-4C74-B854-E302A47123D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body" hasCustomPrompt="1"/>
          </p:nvPr>
        </p:nvSpPr>
        <p:spPr>
          <a:xfrm>
            <a:off x="343440" y="4444560"/>
            <a:ext cx="6610680" cy="63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2286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742950" lvl="1" indent="-2857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600200" lvl="3" indent="-2286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057400" lvl="4" indent="-2286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 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587EE6EB-6699-4FA9-8BB8-ED5579EEC75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43440" y="1162080"/>
            <a:ext cx="9389880" cy="206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Click to edit Master title style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 hasCustomPrompt="1"/>
          </p:nvPr>
        </p:nvSpPr>
        <p:spPr>
          <a:xfrm>
            <a:off x="343440" y="3311640"/>
            <a:ext cx="9389880" cy="13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t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3429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914400" lvl="1" indent="-31750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371600" lvl="2" indent="-3175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828800" lvl="3" indent="-3175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286000" lvl="4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743200" lvl="5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200400" lvl="6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B3B60"/>
                </a:solidFill>
                <a:latin typeface="Georgia"/>
              </a:defRPr>
            </a:pPr>
            <a:r>
              <a:t>Customer Churn Prediction &amp; Business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C8102E"/>
                </a:solidFill>
              </a:defRPr>
            </a:pPr>
            <a:r>
              <a:t>Domain: Business – Data Science &amp; Telecom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60"/>
                </a:solidFill>
              </a:defRPr>
            </a:pPr>
            <a:r>
              <a:t>Team No: 8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Bekkem Kalyan (23EG110C09)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Eramolla Aryan Preetham (23EG110C21)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Tirumala Peddinty Vijaya Krishna Sreekar (23EG110C60)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8346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60"/>
                </a:solidFill>
              </a:defRPr>
            </a:pPr>
            <a:r>
              <a:t>Under the Guidance of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Mr. Biksham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Assistant Professor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Department of Data Science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4628" y="607939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365" y="1188720"/>
            <a:ext cx="804672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Customer churn is a critical business challenge in the telecom industry where retaining existing customers is 5 to 7 times more cost-effective than acquiring new ones. </a:t>
            </a:r>
            <a:endParaRPr lang="en-IN" dirty="0"/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rPr dirty="0"/>
              <a:t>This project presents an end-to-end Machine Learning and Business Intelligence System designed to predict customer churn accurately and deliver actionable insights for customer retention.</a:t>
            </a:r>
            <a:endParaRPr lang="en-IN" dirty="0"/>
          </a:p>
          <a:p>
            <a:pPr>
              <a:spcAft>
                <a:spcPts val="600"/>
              </a:spcAft>
              <a:defRPr sz="1400" b="1">
                <a:solidFill>
                  <a:srgbClr val="0B3B60"/>
                </a:solidFill>
              </a:defRPr>
            </a:pPr>
            <a:r>
              <a:rPr lang="en-IN" dirty="0"/>
              <a:t>Key System Capabilities: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lang="en-IN" dirty="0"/>
              <a:t>• </a:t>
            </a:r>
            <a:r>
              <a:rPr lang="en-IN" dirty="0" err="1"/>
              <a:t>Analyzes</a:t>
            </a:r>
            <a:r>
              <a:rPr lang="en-IN" dirty="0"/>
              <a:t> 7,043 customer records across 21 demographic, service, and billing attributes.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lang="en-IN" dirty="0"/>
              <a:t>• Implements advanced preprocessing, outlier treatment, and SMOTE balancing to solve class imbalance.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lang="en-IN" dirty="0"/>
              <a:t>• Trains and evaluates multiple algorithms (Random Forest, Logistic Regression, </a:t>
            </a:r>
            <a:r>
              <a:rPr lang="en-IN" dirty="0" err="1"/>
              <a:t>XGBoost</a:t>
            </a:r>
            <a:r>
              <a:rPr lang="en-IN" dirty="0"/>
              <a:t>) achieving 83.62% ROC-AUC.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lang="en-IN" dirty="0"/>
              <a:t>• Integrates a SQLite database and an interactive </a:t>
            </a:r>
            <a:r>
              <a:rPr lang="en-IN" dirty="0" err="1"/>
              <a:t>Streamlit</a:t>
            </a:r>
            <a:r>
              <a:rPr lang="en-IN" dirty="0"/>
              <a:t> Web Dashboard for live predictions and SQL cohort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8102E"/>
                </a:solidFill>
              </a:defRPr>
            </a:pPr>
            <a:r>
              <a:t>Problem Context &amp; Industry Challenge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Telecom service providers experience heavy revenue loss due to customer contract cancellations (churn).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Manual identification of at-risk customers is ineffective due to complex, multi-dimensional customer behavioral patterns.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Unaddressed churn results in high acquisition overheads, reduced customer lifetime value (CLV), and diminished market share.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 b="1">
                <a:solidFill>
                  <a:srgbClr val="0B3B60"/>
                </a:solidFill>
              </a:defRPr>
            </a:pPr>
            <a:r>
              <a:t>Proposed Solution &amp; Data Flow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Data Ingestion → Clean &amp; Preprocess → Feature Engineering (SMOTE) → Multi-Model ML Training → SQL Analytics → Streamlit UI.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Enables telecom managers to proactively intervene with targeted discounts, tenure perks, and service upgrades before churn occurs.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82502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1. End-to-End Data Pipeline &amp; Feature Engineering: Ingest, clean, and preprocess the IBM Telco Churn dataset, engineering composite risk metrics and applying SMOTE to address class imbalance.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2. Predictive Model Optimization: Train and validate Machine Learning classifiers (Random Forest, XGBoost, Logistic Regression) to accurately identify churn patterns with high ROC-AUC and Recall.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3. Financial &amp; Cohort Analytics Engine: Build a robust SQL-powered analytics database to calculate monthly revenue at risk and isolate high-churn customer segments.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4. Interactive Decision Support Dashboard: Deploy a real-time Streamlit web dashboard for instant single/batch churn prediction and executive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51181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686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Method Used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Proposed Model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Drawbacks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Ning Lu et al. (2014)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Boosting with Customer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Telecom churn prediction via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computational cost; lacks real-time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IEEE Trans. Ind. Inf.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A. K. Ahmad et al.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ML + Social Network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DT, Random Forest,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Requires heavy infrastructure &amp; big data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J. of Big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Irfan Ullah et al.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Random Forest +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RF with customer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Complex multi-stage setup; no SQL cohort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IEEE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Shimaa Ouf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Hybrid ML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Ensemble Stacking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inference latency; no interactive retention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Springer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Rohit Sharma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EDA + Multi-Model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RF, SVM,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Single dataset evaluation; no business risk quantification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IEEE ICONAT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523924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Existing Work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3B60"/>
                </a:solidFill>
              </a:defRPr>
            </a:pPr>
            <a:r>
              <a:t>Current / Existing Industry Approaches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Traditional Rule-Based Analytics: Many telecom providers rely on static heuristic threshold rules (e.g., flag accounts after 2 missed bills).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Isolated Model Experiments: Prior studies focus exclusively on model training accuracy without deploying end-to-end usable business applications.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C8102E"/>
                </a:solidFill>
              </a:defRPr>
            </a:pPr>
            <a:r>
              <a:t>Key Limitations of Existing Systems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Neglect of Class Imbalance: Churn datasets typically have a ~73:27 majority-minority split, causing standard models to be biased toward non-churners.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Lack of Revenue Quantification: Existing solutions predict binary labels (0/1) but fail to quantify the direct financial revenue at risk ($/month).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Absence of Real-Time Decision Support: Most models operate in offline batch scripts without an accessible web interface for customer support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534964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Proposed Work and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3B60"/>
                </a:solidFill>
              </a:defRPr>
            </a:pPr>
            <a:r>
              <a:t>Our Proposed Methodology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End-to-End Automated Pipeline: Comprehensive orchestration from raw CSV ingestion to automated EDA, SMOTE balancing, SQL storage, and web UI.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Advanced Feature Engineering: Creation of domain-specific features including ChargesPerTenure, ServiceCount, and a composite RiskScore.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Multi-Model Comparative Benchmarking: Rigorous evaluation of Random Forest, XGBoost, and Logistic Regression with cross-validation.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047857"/>
                </a:solidFill>
              </a:defRPr>
            </a:pPr>
            <a:r>
              <a:t>Key Advantages of the Proposed System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High Predictive Reliability: Achieved 83.62% ROC-AUC and 70.43% churn recall, effectively capturing at-risk subscribers.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Quantified Financial Impact: SQL analytics calculates exact revenue at risk ($138,529/mo) to prioritize high-value customer retention.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Operational Ready: Includes an intuitive Streamlit dashboard allowing non-technical managers to run instant real-time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2037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Software and 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3B60"/>
                </a:solidFill>
              </a:defRPr>
            </a:pPr>
            <a:r>
              <a:t>Software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Operating System: Windows 10 / 11 / Linux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Programming Language: Python 3.9+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ML &amp; Data Libraries: Scikit-learn, XGBoost, Imbalanced-learn (SMOTE), Pandas, NumPy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Database Engine: SQLite3 &amp; SQLAlchemy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Visualization &amp; Web UI: Streamlit, Matplotlib, Seaborn, Plotly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Documentation &amp; Reports: python-pptx, python-docx, ReportLab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8102E"/>
                </a:solidFill>
              </a:defRPr>
            </a:pPr>
            <a:r>
              <a:t>Hardware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Processor: Intel Core i5 / AMD Ryzen 5 or higher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RAM: Minimum 8 GB (16 GB Recommended)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Storage: 500 MB free disk space for dataset, database &amp; models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Display: Standard Full HD (1920x1080) resolution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Connectivity: Active Internet connection for initial package installation and data retrieval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5365" y="474354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System Architecture</a:t>
            </a:r>
          </a:p>
        </p:txBody>
      </p:sp>
      <p:pic>
        <p:nvPicPr>
          <p:cNvPr id="5" name="Picture 4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813816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1: Data Ingestion &amp; Preprocessing: </a:t>
            </a:r>
            <a:r>
              <a:rPr b="0">
                <a:solidFill>
                  <a:srgbClr val="1E293B"/>
                </a:solidFill>
              </a:rPr>
              <a:t>Handles raw CSV ingestion (7,043 rows), cleans whitespace/missing values in TotalCharges, encodes categorical variables, and performs standard feature scaling.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2: Feature Engineering &amp; SMOTE Resampling: </a:t>
            </a:r>
            <a:r>
              <a:rPr b="0">
                <a:solidFill>
                  <a:srgbClr val="1E293B"/>
                </a:solidFill>
              </a:rPr>
              <a:t>Derives predictive domain features (ChargesPerTenure, ServiceCount, RiskScore) and balances minority churn cases using SMOTE oversampling.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3: Model Training &amp; Evaluation Engine: </a:t>
            </a:r>
            <a:r>
              <a:rPr b="0">
                <a:solidFill>
                  <a:srgbClr val="1E293B"/>
                </a:solidFill>
              </a:rPr>
              <a:t>Trains Logistic Regression, Random Forest, and XGBoost with hyperparameter tuning; exports evaluation metrics (AUC, F1, Recall, Confusion Matrices).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4: SQL Business Intelligence &amp; Cohort Analytics: </a:t>
            </a:r>
            <a:r>
              <a:rPr b="0">
                <a:solidFill>
                  <a:srgbClr val="1E293B"/>
                </a:solidFill>
              </a:rPr>
              <a:t>Stores cleaned data into SQLite (churn.db) and executes 10 strategic SQL queries to evaluate cohort churn and calculate revenue at risk ($138K/mo).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5: Interactive Web Dashboard (Streamlit): </a:t>
            </a:r>
            <a:r>
              <a:rPr b="0">
                <a:solidFill>
                  <a:srgbClr val="1E293B"/>
                </a:solidFill>
              </a:rPr>
              <a:t>Provides a 5-page interactive web UI for real-time customer risk prediction, live database exploration, interactive charts, and PDF/Word report exports.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System Design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3B60"/>
                </a:solidFill>
              </a:defRPr>
            </a:pPr>
            <a:r>
              <a:t>Functional Design &amp; Layered Architecture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Presentation Layer: Streamlit Dashboard UI receiving real-time user inputs and rendering visual analytics.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Application / Service Layer: Python inference pipeline loading serialized models (`best_model.pkl`) and running live probability scoring.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Data &amp; Persistence Layer: SQLite Relational Database (`churn.db`) managing relational customer records, service contracts, and historical churn outcomes.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C8102E"/>
                </a:solidFill>
              </a:defRPr>
            </a:pPr>
            <a:r>
              <a:t>Design Specifications &amp; Quality Attributes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Modularity: Decoupled architecture allowing independent model updates or data pipeline extensions.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Responsiveness &amp; Low Latency: Single customer churn predictions generated in &lt; 50ms.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Reliability &amp; Maintainability: Automated unit checks, structured logging, and persistent artifact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480566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rPr dirty="0"/>
              <a:t>Design - UML, ER &amp; DFD Diagrams</a:t>
            </a:r>
          </a:p>
        </p:txBody>
      </p:sp>
      <p:pic>
        <p:nvPicPr>
          <p:cNvPr id="5" name="Picture 4" descr="um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114800" cy="1737360"/>
          </a:xfrm>
          <a:prstGeom prst="rect">
            <a:avLst/>
          </a:prstGeom>
        </p:spPr>
      </p:pic>
      <p:pic>
        <p:nvPicPr>
          <p:cNvPr id="6" name="Picture 5" descr="dfd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51560"/>
            <a:ext cx="4114800" cy="1737360"/>
          </a:xfrm>
          <a:prstGeom prst="rect">
            <a:avLst/>
          </a:prstGeom>
        </p:spPr>
      </p:pic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88036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4630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3B60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</a:defRPr>
            </a:pPr>
            <a:r>
              <a:t>Questions &amp; Feedback</a:t>
            </a:r>
          </a:p>
          <a:p>
            <a:pPr algn="ctr"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Team No: 8  |  Department of Data Science  |  Anurag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ometric Resume Infographics by Slidesgo">
  <a:themeElements>
    <a:clrScheme name="Simple Light">
      <a:dk1>
        <a:srgbClr val="000000"/>
      </a:dk1>
      <a:lt1>
        <a:srgbClr val="FFFFFF"/>
      </a:lt1>
      <a:dk2>
        <a:srgbClr val="979797"/>
      </a:dk2>
      <a:lt2>
        <a:srgbClr val="DDDDDD"/>
      </a:lt2>
      <a:accent1>
        <a:srgbClr val="BA9CEC"/>
      </a:accent1>
      <a:accent2>
        <a:srgbClr val="FAA22F"/>
      </a:accent2>
      <a:accent3>
        <a:srgbClr val="FD675F"/>
      </a:accent3>
      <a:accent4>
        <a:srgbClr val="6DABF0"/>
      </a:accent4>
      <a:accent5>
        <a:srgbClr val="3E74B1"/>
      </a:accent5>
      <a:accent6>
        <a:srgbClr val="523BC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1308</Words>
  <Application>Microsoft Office PowerPoint</Application>
  <PresentationFormat>Custom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Wingdings</vt:lpstr>
      <vt:lpstr>Arial</vt:lpstr>
      <vt:lpstr>Symbol</vt:lpstr>
      <vt:lpstr>Times New Roman</vt:lpstr>
      <vt:lpstr>Isometric Resume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Anurag</dc:creator>
  <cp:lastModifiedBy>Sreekar Tp</cp:lastModifiedBy>
  <cp:revision>62</cp:revision>
  <dcterms:created xsi:type="dcterms:W3CDTF">2026-07-03T08:11:21Z</dcterms:created>
  <dcterms:modified xsi:type="dcterms:W3CDTF">2026-09-01T05:11:01Z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7</vt:i4>
  </property>
  <property fmtid="{D5CDD505-2E9C-101B-9397-08002B2CF9AE}" pid="5" name="ICV">
    <vt:lpwstr>78104E598C8948C9B650E987E9F8D71F_12</vt:lpwstr>
  </property>
  <property fmtid="{D5CDD505-2E9C-101B-9397-08002B2CF9AE}" pid="6" name="KSOProductBuildVer">
    <vt:lpwstr>1033-12.1.0.26880</vt:lpwstr>
  </property>
</Properties>
</file>