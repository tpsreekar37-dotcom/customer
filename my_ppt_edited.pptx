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8"/>
  </p:notesMasterIdLst>
  <p:sldIdLst>
    <p:sldId id="270" r:id="rId2"/>
    <p:sldId id="269" r:id="rId3"/>
    <p:sldId id="258" r:id="rId4"/>
    <p:sldId id="259" r:id="rId5"/>
    <p:sldId id="260" r:id="rId6"/>
    <p:sldId id="261" r:id="rId7"/>
    <p:sldId id="262" r:id="rId8"/>
    <p:sldId id="263" r:id="rId9"/>
    <p:sldId id="284" r:id="rId10"/>
    <p:sldId id="265" r:id="rId11"/>
    <p:sldId id="266" r:id="rId12"/>
    <p:sldId id="272" r:id="rId13"/>
    <p:sldId id="273" r:id="rId14"/>
    <p:sldId id="285" r:id="rId15"/>
    <p:sldId id="271" r:id="rId16"/>
    <p:sldId id="268" r:id="rId17"/>
  </p:sldIdLst>
  <p:sldSz cx="10077450" cy="5403850"/>
  <p:notesSz cx="7010400" cy="9296400"/>
  <p:embeddedFontLst>
    <p:embeddedFont>
      <p:font typeface="Georgia" panose="02040502050405020303" pitchFamily="18" charset="0"/>
      <p:regular r:id="rId19"/>
      <p:bold r:id="rId20"/>
      <p:italic r:id="rId21"/>
      <p:boldItalic r:id="rId22"/>
    </p:embeddedFont>
    <p:embeddedFont>
      <p:font typeface="Segoe UI" panose="020B0502040204020203" pitchFamily="34" charset="0"/>
      <p:regular r:id="rId23"/>
      <p:bold r:id="rId24"/>
      <p:italic r:id="rId25"/>
      <p:boldItalic r:id="rId26"/>
    </p:embeddedFont>
  </p:embeddedFont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60"/>
  </p:normalViewPr>
  <p:slideViewPr>
    <p:cSldViewPr snapToGrid="0">
      <p:cViewPr>
        <p:scale>
          <a:sx n="100" d="100"/>
          <a:sy n="100" d="100"/>
        </p:scale>
        <p:origin x="653" y="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 name="PlaceHolder 1">
            <a:extLst>
              <a:ext uri="{FF2B5EF4-FFF2-40B4-BE49-F238E27FC236}">
                <a16:creationId xmlns:a16="http://schemas.microsoft.com/office/drawing/2014/main" id="{73B2670D-E579-F4B7-79C3-8C59B177D22F}"/>
              </a:ext>
            </a:extLst>
          </p:cNvPr>
          <p:cNvSpPr>
            <a:spLocks noGrp="1" noRot="1" noChangeAspect="1"/>
          </p:cNvSpPr>
          <p:nvPr>
            <p:ph type="sldImg"/>
          </p:nvPr>
        </p:nvSpPr>
        <p:spPr>
          <a:xfrm>
            <a:off x="215900" y="812800"/>
            <a:ext cx="7127875" cy="4008438"/>
          </a:xfrm>
          <a:prstGeom prst="rect">
            <a:avLst/>
          </a:prstGeom>
          <a:noFill/>
          <a:ln w="0">
            <a:noFill/>
          </a:ln>
        </p:spPr>
        <p:txBody>
          <a:bodyPr lIns="0" tIns="0" rIns="0" bIns="0" anchor="ctr">
            <a:noAutofit/>
          </a:bodyPr>
          <a:lstStyle/>
          <a:p>
            <a:pPr lvl="0"/>
            <a:r>
              <a:rPr lang="en-US" noProof="0"/>
              <a:t>                       </a:t>
            </a:r>
          </a:p>
        </p:txBody>
      </p:sp>
      <p:sp>
        <p:nvSpPr>
          <p:cNvPr id="50" name="PlaceHolder 2">
            <a:extLst>
              <a:ext uri="{FF2B5EF4-FFF2-40B4-BE49-F238E27FC236}">
                <a16:creationId xmlns:a16="http://schemas.microsoft.com/office/drawing/2014/main" id="{EF2BDBA6-516A-DFC2-2E9A-827CAFA7E953}"/>
              </a:ext>
            </a:extLst>
          </p:cNvPr>
          <p:cNvSpPr>
            <a:spLocks noGrp="1"/>
          </p:cNvSpPr>
          <p:nvPr>
            <p:ph type="body"/>
          </p:nvPr>
        </p:nvSpPr>
        <p:spPr>
          <a:xfrm>
            <a:off x="755650" y="5078413"/>
            <a:ext cx="6048375" cy="4811712"/>
          </a:xfrm>
          <a:prstGeom prst="rect">
            <a:avLst/>
          </a:prstGeom>
          <a:noFill/>
          <a:ln w="0">
            <a:noFill/>
          </a:ln>
        </p:spPr>
        <p:txBody>
          <a:bodyPr lIns="0" tIns="0" rIns="0" bIns="0" anchor="t">
            <a:noAutofit/>
          </a:bodyPr>
          <a:lstStyle/>
          <a:p>
            <a:pPr lvl="0"/>
            <a:r>
              <a:rPr lang="en-IN" noProof="0"/>
              <a:t>Click to edit the notes format</a:t>
            </a:r>
          </a:p>
        </p:txBody>
      </p:sp>
      <p:sp>
        <p:nvSpPr>
          <p:cNvPr id="51" name="PlaceHolder 3">
            <a:extLst>
              <a:ext uri="{FF2B5EF4-FFF2-40B4-BE49-F238E27FC236}">
                <a16:creationId xmlns:a16="http://schemas.microsoft.com/office/drawing/2014/main" id="{CD6D2422-8723-53BF-C04C-3EA4A168A3E8}"/>
              </a:ext>
            </a:extLst>
          </p:cNvPr>
          <p:cNvSpPr>
            <a:spLocks noGrp="1"/>
          </p:cNvSpPr>
          <p:nvPr>
            <p:ph type="hdr"/>
          </p:nvPr>
        </p:nvSpPr>
        <p:spPr>
          <a:xfrm>
            <a:off x="0" y="0"/>
            <a:ext cx="3281363" cy="534988"/>
          </a:xfrm>
          <a:prstGeom prst="rect">
            <a:avLst/>
          </a:prstGeom>
          <a:noFill/>
          <a:ln w="0">
            <a:noFill/>
          </a:ln>
        </p:spPr>
        <p:txBody>
          <a:bodyPr lIns="0" tIns="0" rIns="0" bIns="0" anchor="t">
            <a:noAutofit/>
          </a:bodyPr>
          <a:lstStyle>
            <a:lvl1pPr eaLnBrk="1" fontAlgn="auto" hangingPunct="1">
              <a:spcBef>
                <a:spcPts val="0"/>
              </a:spcBef>
              <a:spcAft>
                <a:spcPts val="0"/>
              </a:spcAft>
              <a:defRPr sz="1400">
                <a:solidFill>
                  <a:srgbClr val="000000"/>
                </a:solidFill>
                <a:latin typeface="Times New Roman" panose="02020603050405020304"/>
              </a:defRPr>
            </a:lvl1pPr>
          </a:lstStyle>
          <a:p>
            <a:pPr>
              <a:defRPr/>
            </a:pPr>
            <a:r>
              <a:rPr lang="en-IN"/>
              <a:t>&lt;header&gt;</a:t>
            </a:r>
          </a:p>
        </p:txBody>
      </p:sp>
      <p:sp>
        <p:nvSpPr>
          <p:cNvPr id="52" name="PlaceHolder 4">
            <a:extLst>
              <a:ext uri="{FF2B5EF4-FFF2-40B4-BE49-F238E27FC236}">
                <a16:creationId xmlns:a16="http://schemas.microsoft.com/office/drawing/2014/main" id="{08B2E93A-B425-3BCD-7B8B-7AC0A2A3A62C}"/>
              </a:ext>
            </a:extLst>
          </p:cNvPr>
          <p:cNvSpPr>
            <a:spLocks noGrp="1"/>
          </p:cNvSpPr>
          <p:nvPr>
            <p:ph type="dt" idx="2"/>
          </p:nvPr>
        </p:nvSpPr>
        <p:spPr>
          <a:xfrm>
            <a:off x="4278313" y="0"/>
            <a:ext cx="3281362" cy="534988"/>
          </a:xfrm>
          <a:prstGeom prst="rect">
            <a:avLst/>
          </a:prstGeom>
          <a:noFill/>
          <a:ln w="0">
            <a:noFill/>
          </a:ln>
        </p:spPr>
        <p:txBody>
          <a:bodyPr lIns="0" tIns="0" rIns="0" bIns="0" anchor="t">
            <a:noAutofit/>
          </a:bodyPr>
          <a:lstStyle>
            <a:lvl1pPr indent="0" algn="r" eaLnBrk="1" fontAlgn="auto" hangingPunct="1">
              <a:spcBef>
                <a:spcPts val="0"/>
              </a:spcBef>
              <a:spcAft>
                <a:spcPts val="0"/>
              </a:spcAft>
              <a:buNone/>
              <a:defRPr lang="en-IN" sz="1400" b="0" u="none" strike="noStrike">
                <a:solidFill>
                  <a:srgbClr val="000000"/>
                </a:solidFill>
                <a:effectLst/>
                <a:uFillTx/>
                <a:latin typeface="Times New Roman" panose="02020603050405020304"/>
              </a:defRPr>
            </a:lvl1pPr>
          </a:lstStyle>
          <a:p>
            <a:pPr>
              <a:defRPr/>
            </a:pPr>
            <a:r>
              <a:t>&lt;date/time&gt;</a:t>
            </a:r>
          </a:p>
        </p:txBody>
      </p:sp>
      <p:sp>
        <p:nvSpPr>
          <p:cNvPr id="53" name="PlaceHolder 5">
            <a:extLst>
              <a:ext uri="{FF2B5EF4-FFF2-40B4-BE49-F238E27FC236}">
                <a16:creationId xmlns:a16="http://schemas.microsoft.com/office/drawing/2014/main" id="{E3355621-9463-1EFA-726C-77CAEF54DE29}"/>
              </a:ext>
            </a:extLst>
          </p:cNvPr>
          <p:cNvSpPr>
            <a:spLocks noGrp="1"/>
          </p:cNvSpPr>
          <p:nvPr>
            <p:ph type="ftr" idx="3"/>
          </p:nvPr>
        </p:nvSpPr>
        <p:spPr>
          <a:xfrm>
            <a:off x="0" y="10156825"/>
            <a:ext cx="3281363" cy="534988"/>
          </a:xfrm>
          <a:prstGeom prst="rect">
            <a:avLst/>
          </a:prstGeom>
          <a:noFill/>
          <a:ln w="0">
            <a:noFill/>
          </a:ln>
        </p:spPr>
        <p:txBody>
          <a:bodyPr lIns="0" tIns="0" rIns="0" bIns="0" anchor="b">
            <a:noAutofit/>
          </a:bodyPr>
          <a:lstStyle>
            <a:lvl1pPr indent="0" algn="l" eaLnBrk="1" fontAlgn="auto" hangingPunct="1">
              <a:spcBef>
                <a:spcPts val="0"/>
              </a:spcBef>
              <a:spcAft>
                <a:spcPts val="0"/>
              </a:spcAft>
              <a:buNone/>
              <a:defRPr lang="en-IN" sz="1400" b="0" u="none" strike="noStrike">
                <a:solidFill>
                  <a:srgbClr val="000000"/>
                </a:solidFill>
                <a:effectLst/>
                <a:uFillTx/>
                <a:latin typeface="Times New Roman" panose="02020603050405020304"/>
              </a:defRPr>
            </a:lvl1pPr>
          </a:lstStyle>
          <a:p>
            <a:pPr>
              <a:defRPr/>
            </a:pPr>
            <a:r>
              <a:t>&lt;footer&gt;</a:t>
            </a:r>
          </a:p>
        </p:txBody>
      </p:sp>
      <p:sp>
        <p:nvSpPr>
          <p:cNvPr id="54" name="PlaceHolder 6">
            <a:extLst>
              <a:ext uri="{FF2B5EF4-FFF2-40B4-BE49-F238E27FC236}">
                <a16:creationId xmlns:a16="http://schemas.microsoft.com/office/drawing/2014/main" id="{2D0A3B42-D94E-7BD7-1575-50E8DA0F02A2}"/>
              </a:ext>
            </a:extLst>
          </p:cNvPr>
          <p:cNvSpPr>
            <a:spLocks noGrp="1"/>
          </p:cNvSpPr>
          <p:nvPr>
            <p:ph type="sldNum" idx="4"/>
          </p:nvPr>
        </p:nvSpPr>
        <p:spPr>
          <a:xfrm>
            <a:off x="4278313" y="10156825"/>
            <a:ext cx="3281362" cy="534988"/>
          </a:xfrm>
          <a:prstGeom prst="rect">
            <a:avLst/>
          </a:prstGeom>
          <a:noFill/>
          <a:ln w="0">
            <a:noFill/>
          </a:ln>
        </p:spPr>
        <p:txBody>
          <a:bodyPr lIns="0" tIns="0" rIns="0" bIns="0" anchor="b">
            <a:noAutofit/>
          </a:bodyPr>
          <a:lstStyle>
            <a:lvl1pPr indent="0" algn="r" eaLnBrk="1" fontAlgn="auto" hangingPunct="1">
              <a:spcBef>
                <a:spcPts val="0"/>
              </a:spcBef>
              <a:spcAft>
                <a:spcPts val="0"/>
              </a:spcAft>
              <a:buNone/>
              <a:defRPr lang="en-IN" sz="1400" b="0" u="none" strike="noStrike">
                <a:solidFill>
                  <a:srgbClr val="000000"/>
                </a:solidFill>
                <a:effectLst/>
                <a:uFillTx/>
                <a:latin typeface="Times New Roman" panose="02020603050405020304"/>
              </a:defRPr>
            </a:lvl1pPr>
          </a:lstStyle>
          <a:p>
            <a:pPr>
              <a:defRPr/>
            </a:pPr>
            <a:fld id="{3223CB1C-A41C-470D-A530-0B98842F128C}" type="slidenum">
              <a:rPr/>
              <a:pPr>
                <a:defRPr/>
              </a:pPr>
              <a:t>‹#›</a:t>
            </a:fld>
            <a:endParaRP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742950" indent="-285750" algn="l" rtl="0" eaLnBrk="0" fontAlgn="base" hangingPunct="0">
      <a:spcBef>
        <a:spcPct val="30000"/>
      </a:spcBef>
      <a:spcAft>
        <a:spcPct val="0"/>
      </a:spcAft>
      <a:defRPr sz="1200" kern="1200">
        <a:solidFill>
          <a:schemeClr val="tx1"/>
        </a:solidFill>
        <a:latin typeface="+mn-lt"/>
        <a:ea typeface="+mn-ea"/>
        <a:cs typeface="+mn-cs"/>
      </a:defRPr>
    </a:lvl2pPr>
    <a:lvl3pPr marL="1143000" indent="-228600" algn="l" rtl="0" eaLnBrk="0" fontAlgn="base" hangingPunct="0">
      <a:spcBef>
        <a:spcPct val="30000"/>
      </a:spcBef>
      <a:spcAft>
        <a:spcPct val="0"/>
      </a:spcAft>
      <a:defRPr sz="1200" kern="1200">
        <a:solidFill>
          <a:schemeClr val="tx1"/>
        </a:solidFill>
        <a:latin typeface="+mn-lt"/>
        <a:ea typeface="+mn-ea"/>
        <a:cs typeface="+mn-cs"/>
      </a:defRPr>
    </a:lvl3pPr>
    <a:lvl4pPr marL="1600200" indent="-228600" algn="l" rtl="0" eaLnBrk="0" fontAlgn="base" hangingPunct="0">
      <a:spcBef>
        <a:spcPct val="30000"/>
      </a:spcBef>
      <a:spcAft>
        <a:spcPct val="0"/>
      </a:spcAft>
      <a:defRPr sz="1200" kern="1200">
        <a:solidFill>
          <a:schemeClr val="tx1"/>
        </a:solidFill>
        <a:latin typeface="+mn-lt"/>
        <a:ea typeface="+mn-ea"/>
        <a:cs typeface="+mn-cs"/>
      </a:defRPr>
    </a:lvl4pPr>
    <a:lvl5pPr marL="2057400" indent="-2286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PlaceHolder 1">
            <a:extLst>
              <a:ext uri="{FF2B5EF4-FFF2-40B4-BE49-F238E27FC236}">
                <a16:creationId xmlns:a16="http://schemas.microsoft.com/office/drawing/2014/main" id="{441FE8CA-B248-9DF7-DFBD-C68E98340FD4}"/>
              </a:ext>
            </a:extLst>
          </p:cNvPr>
          <p:cNvSpPr>
            <a:spLocks noGrp="1" noRot="1" noChangeAspect="1" noChangeArrowheads="1" noTextEdit="1"/>
          </p:cNvSpPr>
          <p:nvPr>
            <p:ph type="sldImg"/>
          </p:nvPr>
        </p:nvSpPr>
        <p:spPr bwMode="auto">
          <a:xfrm>
            <a:off x="581025" y="1162050"/>
            <a:ext cx="5848350" cy="31369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sp>
      <p:sp>
        <p:nvSpPr>
          <p:cNvPr id="11267" name="PlaceHolder 2">
            <a:extLst>
              <a:ext uri="{FF2B5EF4-FFF2-40B4-BE49-F238E27FC236}">
                <a16:creationId xmlns:a16="http://schemas.microsoft.com/office/drawing/2014/main" id="{571B544C-F7D0-3B6D-B0A8-3366908B8DCE}"/>
              </a:ext>
            </a:extLst>
          </p:cNvPr>
          <p:cNvSpPr>
            <a:spLocks noGrp="1" noChangeArrowheads="1"/>
          </p:cNvSpPr>
          <p:nvPr>
            <p:ph type="body"/>
          </p:nvPr>
        </p:nvSpPr>
        <p:spPr bwMode="auto">
          <a:xfrm>
            <a:off x="701675" y="4473575"/>
            <a:ext cx="5607050" cy="36607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3240" tIns="46440" rIns="93240" bIns="46440" numCol="1" anchorCtr="0" compatLnSpc="1">
            <a:prstTxWarp prst="textNoShape">
              <a:avLst/>
            </a:prstTxWarp>
          </a:bodyPr>
          <a:lstStyle/>
          <a:p>
            <a:pPr eaLnBrk="1" hangingPunct="1">
              <a:spcBef>
                <a:spcPct val="0"/>
              </a:spcBef>
            </a:pPr>
            <a:endParaRPr lang="en-IN" altLang="en-US" sz="1800">
              <a:solidFill>
                <a:srgbClr val="000000"/>
              </a:solidFill>
            </a:endParaRPr>
          </a:p>
        </p:txBody>
      </p:sp>
      <p:sp>
        <p:nvSpPr>
          <p:cNvPr id="11268" name="PlaceHolder 3">
            <a:extLst>
              <a:ext uri="{FF2B5EF4-FFF2-40B4-BE49-F238E27FC236}">
                <a16:creationId xmlns:a16="http://schemas.microsoft.com/office/drawing/2014/main" id="{C693B822-02D6-A660-8104-76F5846B3C9D}"/>
              </a:ext>
            </a:extLst>
          </p:cNvPr>
          <p:cNvSpPr>
            <a:spLocks noGrp="1" noChangeArrowheads="1"/>
          </p:cNvSpPr>
          <p:nvPr>
            <p:ph type="sldNum" sz="quarter" idx="4"/>
          </p:nvPr>
        </p:nvSpPr>
        <p:spPr bwMode="auto">
          <a:xfrm>
            <a:off x="3970338" y="8829675"/>
            <a:ext cx="3038475" cy="4667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3240" tIns="46440" rIns="93240" bIns="46440" numCol="1" anchorCtr="0" compatLnSpc="1">
            <a:prstTxWarp prst="textNoShape">
              <a:avLst/>
            </a:prstTxWarp>
          </a:bodyPr>
          <a:lstStyle>
            <a:lvl1pPr>
              <a:spcBef>
                <a:spcPct val="30000"/>
              </a:spcBef>
              <a:defRPr sz="1200">
                <a:solidFill>
                  <a:schemeClr val="tx1"/>
                </a:solidFill>
                <a:latin typeface="Arial" panose="020B0604020202020204" pitchFamily="34" charset="0"/>
                <a:ea typeface="DejaVu Sans"/>
                <a:cs typeface="DejaVu Sans"/>
              </a:defRPr>
            </a:lvl1pPr>
            <a:lvl2pPr marL="742950" indent="-285750">
              <a:spcBef>
                <a:spcPct val="30000"/>
              </a:spcBef>
              <a:defRPr sz="1200">
                <a:solidFill>
                  <a:schemeClr val="tx1"/>
                </a:solidFill>
                <a:latin typeface="Arial" panose="020B0604020202020204" pitchFamily="34" charset="0"/>
                <a:ea typeface="DejaVu Sans"/>
                <a:cs typeface="DejaVu Sans"/>
              </a:defRPr>
            </a:lvl2pPr>
            <a:lvl3pPr marL="1143000" indent="-228600">
              <a:spcBef>
                <a:spcPct val="30000"/>
              </a:spcBef>
              <a:defRPr sz="1200">
                <a:solidFill>
                  <a:schemeClr val="tx1"/>
                </a:solidFill>
                <a:latin typeface="Arial" panose="020B0604020202020204" pitchFamily="34" charset="0"/>
                <a:ea typeface="DejaVu Sans"/>
                <a:cs typeface="DejaVu Sans"/>
              </a:defRPr>
            </a:lvl3pPr>
            <a:lvl4pPr marL="1600200" indent="-228600">
              <a:spcBef>
                <a:spcPct val="30000"/>
              </a:spcBef>
              <a:defRPr sz="1200">
                <a:solidFill>
                  <a:schemeClr val="tx1"/>
                </a:solidFill>
                <a:latin typeface="Arial" panose="020B0604020202020204" pitchFamily="34" charset="0"/>
                <a:ea typeface="DejaVu Sans"/>
                <a:cs typeface="DejaVu Sans"/>
              </a:defRPr>
            </a:lvl4pPr>
            <a:lvl5pPr marL="2057400" indent="-228600">
              <a:spcBef>
                <a:spcPct val="30000"/>
              </a:spcBef>
              <a:defRPr sz="1200">
                <a:solidFill>
                  <a:schemeClr val="tx1"/>
                </a:solidFill>
                <a:latin typeface="Arial" panose="020B0604020202020204" pitchFamily="34" charset="0"/>
                <a:ea typeface="DejaVu Sans"/>
                <a:cs typeface="DejaVu Sans"/>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9pPr>
          </a:lstStyle>
          <a:p>
            <a:pPr fontAlgn="base">
              <a:spcBef>
                <a:spcPct val="0"/>
              </a:spcBef>
              <a:spcAft>
                <a:spcPct val="0"/>
              </a:spcAft>
            </a:pPr>
            <a:fld id="{95FDE17A-0AB7-4B9D-96DF-F96CACD055AC}" type="slidenum">
              <a:rPr lang="en-US" altLang="en-US" sz="1400" smtClean="0">
                <a:solidFill>
                  <a:srgbClr val="000000"/>
                </a:solidFill>
              </a:rPr>
              <a:pPr fontAlgn="base">
                <a:spcBef>
                  <a:spcPct val="0"/>
                </a:spcBef>
                <a:spcAft>
                  <a:spcPct val="0"/>
                </a:spcAft>
              </a:pPr>
              <a:t>1</a:t>
            </a:fld>
            <a:endParaRPr altLang="en-US" sz="1400">
              <a:solidFill>
                <a:srgbClr val="000000"/>
              </a:solidFill>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PlaceHolder 1">
            <a:extLst>
              <a:ext uri="{FF2B5EF4-FFF2-40B4-BE49-F238E27FC236}">
                <a16:creationId xmlns:a16="http://schemas.microsoft.com/office/drawing/2014/main" id="{27BF0DCA-9470-17BB-55E2-AB5F3AFC55C8}"/>
              </a:ext>
            </a:extLst>
          </p:cNvPr>
          <p:cNvSpPr>
            <a:spLocks noGrp="1" noRot="1" noChangeAspect="1" noChangeArrowheads="1" noTextEdit="1"/>
          </p:cNvSpPr>
          <p:nvPr>
            <p:ph type="sldImg"/>
          </p:nvPr>
        </p:nvSpPr>
        <p:spPr bwMode="auto">
          <a:xfrm>
            <a:off x="581025" y="1162050"/>
            <a:ext cx="5848350" cy="31369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sp>
      <p:sp>
        <p:nvSpPr>
          <p:cNvPr id="13315" name="PlaceHolder 2">
            <a:extLst>
              <a:ext uri="{FF2B5EF4-FFF2-40B4-BE49-F238E27FC236}">
                <a16:creationId xmlns:a16="http://schemas.microsoft.com/office/drawing/2014/main" id="{1210F270-BD5C-F44C-EFD2-C6E60EDC8A5A}"/>
              </a:ext>
            </a:extLst>
          </p:cNvPr>
          <p:cNvSpPr>
            <a:spLocks noGrp="1" noChangeArrowheads="1"/>
          </p:cNvSpPr>
          <p:nvPr>
            <p:ph type="body"/>
          </p:nvPr>
        </p:nvSpPr>
        <p:spPr bwMode="auto">
          <a:xfrm>
            <a:off x="701675" y="4473575"/>
            <a:ext cx="5607050" cy="36607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3240" tIns="46440" rIns="93240" bIns="46440" numCol="1" anchorCtr="0" compatLnSpc="1">
            <a:prstTxWarp prst="textNoShape">
              <a:avLst/>
            </a:prstTxWarp>
          </a:bodyPr>
          <a:lstStyle/>
          <a:p>
            <a:pPr eaLnBrk="1" hangingPunct="1">
              <a:spcBef>
                <a:spcPct val="0"/>
              </a:spcBef>
            </a:pPr>
            <a:endParaRPr lang="en-IN" altLang="en-US" sz="1800">
              <a:solidFill>
                <a:srgbClr val="000000"/>
              </a:solidFill>
            </a:endParaRPr>
          </a:p>
        </p:txBody>
      </p:sp>
      <p:sp>
        <p:nvSpPr>
          <p:cNvPr id="13316" name="PlaceHolder 3">
            <a:extLst>
              <a:ext uri="{FF2B5EF4-FFF2-40B4-BE49-F238E27FC236}">
                <a16:creationId xmlns:a16="http://schemas.microsoft.com/office/drawing/2014/main" id="{1FB0399F-FF75-A585-5908-92531335D38A}"/>
              </a:ext>
            </a:extLst>
          </p:cNvPr>
          <p:cNvSpPr>
            <a:spLocks noGrp="1" noChangeArrowheads="1"/>
          </p:cNvSpPr>
          <p:nvPr>
            <p:ph type="sldNum" sz="quarter" idx="4"/>
          </p:nvPr>
        </p:nvSpPr>
        <p:spPr bwMode="auto">
          <a:xfrm>
            <a:off x="3970338" y="8829675"/>
            <a:ext cx="3038475" cy="4667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3240" tIns="46440" rIns="93240" bIns="46440" numCol="1" anchorCtr="0" compatLnSpc="1">
            <a:prstTxWarp prst="textNoShape">
              <a:avLst/>
            </a:prstTxWarp>
          </a:bodyPr>
          <a:lstStyle>
            <a:lvl1pPr>
              <a:spcBef>
                <a:spcPct val="30000"/>
              </a:spcBef>
              <a:defRPr sz="1200">
                <a:solidFill>
                  <a:schemeClr val="tx1"/>
                </a:solidFill>
                <a:latin typeface="Arial" panose="020B0604020202020204" pitchFamily="34" charset="0"/>
                <a:ea typeface="DejaVu Sans"/>
                <a:cs typeface="DejaVu Sans"/>
              </a:defRPr>
            </a:lvl1pPr>
            <a:lvl2pPr marL="742950" indent="-285750">
              <a:spcBef>
                <a:spcPct val="30000"/>
              </a:spcBef>
              <a:defRPr sz="1200">
                <a:solidFill>
                  <a:schemeClr val="tx1"/>
                </a:solidFill>
                <a:latin typeface="Arial" panose="020B0604020202020204" pitchFamily="34" charset="0"/>
                <a:ea typeface="DejaVu Sans"/>
                <a:cs typeface="DejaVu Sans"/>
              </a:defRPr>
            </a:lvl2pPr>
            <a:lvl3pPr marL="1143000" indent="-228600">
              <a:spcBef>
                <a:spcPct val="30000"/>
              </a:spcBef>
              <a:defRPr sz="1200">
                <a:solidFill>
                  <a:schemeClr val="tx1"/>
                </a:solidFill>
                <a:latin typeface="Arial" panose="020B0604020202020204" pitchFamily="34" charset="0"/>
                <a:ea typeface="DejaVu Sans"/>
                <a:cs typeface="DejaVu Sans"/>
              </a:defRPr>
            </a:lvl3pPr>
            <a:lvl4pPr marL="1600200" indent="-228600">
              <a:spcBef>
                <a:spcPct val="30000"/>
              </a:spcBef>
              <a:defRPr sz="1200">
                <a:solidFill>
                  <a:schemeClr val="tx1"/>
                </a:solidFill>
                <a:latin typeface="Arial" panose="020B0604020202020204" pitchFamily="34" charset="0"/>
                <a:ea typeface="DejaVu Sans"/>
                <a:cs typeface="DejaVu Sans"/>
              </a:defRPr>
            </a:lvl4pPr>
            <a:lvl5pPr marL="2057400" indent="-228600">
              <a:spcBef>
                <a:spcPct val="30000"/>
              </a:spcBef>
              <a:defRPr sz="1200">
                <a:solidFill>
                  <a:schemeClr val="tx1"/>
                </a:solidFill>
                <a:latin typeface="Arial" panose="020B0604020202020204" pitchFamily="34" charset="0"/>
                <a:ea typeface="DejaVu Sans"/>
                <a:cs typeface="DejaVu Sans"/>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9pPr>
          </a:lstStyle>
          <a:p>
            <a:pPr fontAlgn="base">
              <a:spcBef>
                <a:spcPct val="0"/>
              </a:spcBef>
              <a:spcAft>
                <a:spcPct val="0"/>
              </a:spcAft>
            </a:pPr>
            <a:fld id="{13374EA2-95A1-4BEE-AEC1-6EA5BB43B397}" type="slidenum">
              <a:rPr lang="en-US" altLang="en-US" sz="1400" smtClean="0">
                <a:solidFill>
                  <a:srgbClr val="000000"/>
                </a:solidFill>
              </a:rPr>
              <a:pPr fontAlgn="base">
                <a:spcBef>
                  <a:spcPct val="0"/>
                </a:spcBef>
                <a:spcAft>
                  <a:spcPct val="0"/>
                </a:spcAft>
              </a:pPr>
              <a:t>2</a:t>
            </a:fld>
            <a:endParaRPr altLang="en-US" sz="1400">
              <a:solidFill>
                <a:srgbClr val="000000"/>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PlaceHolder 1">
            <a:extLst>
              <a:ext uri="{FF2B5EF4-FFF2-40B4-BE49-F238E27FC236}">
                <a16:creationId xmlns:a16="http://schemas.microsoft.com/office/drawing/2014/main" id="{226CD831-34CF-C884-5F4E-B4E74F41510D}"/>
              </a:ext>
            </a:extLst>
          </p:cNvPr>
          <p:cNvSpPr>
            <a:spLocks noGrp="1" noRot="1" noChangeAspect="1" noChangeArrowheads="1" noTextEdit="1"/>
          </p:cNvSpPr>
          <p:nvPr>
            <p:ph type="sldImg"/>
          </p:nvPr>
        </p:nvSpPr>
        <p:spPr bwMode="auto">
          <a:xfrm>
            <a:off x="581025" y="1162050"/>
            <a:ext cx="5848350" cy="31369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sp>
      <p:sp>
        <p:nvSpPr>
          <p:cNvPr id="21507" name="PlaceHolder 2">
            <a:extLst>
              <a:ext uri="{FF2B5EF4-FFF2-40B4-BE49-F238E27FC236}">
                <a16:creationId xmlns:a16="http://schemas.microsoft.com/office/drawing/2014/main" id="{D75C7D20-1C8A-E1DB-782C-BAF0102BF03A}"/>
              </a:ext>
            </a:extLst>
          </p:cNvPr>
          <p:cNvSpPr>
            <a:spLocks noGrp="1" noChangeArrowheads="1"/>
          </p:cNvSpPr>
          <p:nvPr>
            <p:ph type="body"/>
          </p:nvPr>
        </p:nvSpPr>
        <p:spPr bwMode="auto">
          <a:xfrm>
            <a:off x="701675" y="4473575"/>
            <a:ext cx="5607050" cy="366077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3240" tIns="46440" rIns="93240" bIns="46440" numCol="1" anchorCtr="0" compatLnSpc="1">
            <a:prstTxWarp prst="textNoShape">
              <a:avLst/>
            </a:prstTxWarp>
          </a:bodyPr>
          <a:lstStyle/>
          <a:p>
            <a:pPr eaLnBrk="1" hangingPunct="1">
              <a:spcBef>
                <a:spcPct val="0"/>
              </a:spcBef>
            </a:pPr>
            <a:endParaRPr lang="en-IN" altLang="en-US" sz="1800">
              <a:solidFill>
                <a:srgbClr val="000000"/>
              </a:solidFill>
            </a:endParaRPr>
          </a:p>
        </p:txBody>
      </p:sp>
      <p:sp>
        <p:nvSpPr>
          <p:cNvPr id="21508" name="PlaceHolder 3">
            <a:extLst>
              <a:ext uri="{FF2B5EF4-FFF2-40B4-BE49-F238E27FC236}">
                <a16:creationId xmlns:a16="http://schemas.microsoft.com/office/drawing/2014/main" id="{889A6982-F2DF-FBFA-3AE0-0AC7DF52E1CD}"/>
              </a:ext>
            </a:extLst>
          </p:cNvPr>
          <p:cNvSpPr>
            <a:spLocks noGrp="1" noChangeArrowheads="1"/>
          </p:cNvSpPr>
          <p:nvPr>
            <p:ph type="sldNum" sz="quarter" idx="4"/>
          </p:nvPr>
        </p:nvSpPr>
        <p:spPr bwMode="auto">
          <a:xfrm>
            <a:off x="3970338" y="8829675"/>
            <a:ext cx="3038475" cy="4667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lIns="93240" tIns="46440" rIns="93240" bIns="46440" numCol="1" anchorCtr="0" compatLnSpc="1">
            <a:prstTxWarp prst="textNoShape">
              <a:avLst/>
            </a:prstTxWarp>
          </a:bodyPr>
          <a:lstStyle>
            <a:lvl1pPr>
              <a:spcBef>
                <a:spcPct val="30000"/>
              </a:spcBef>
              <a:defRPr sz="1200">
                <a:solidFill>
                  <a:schemeClr val="tx1"/>
                </a:solidFill>
                <a:latin typeface="Arial" panose="020B0604020202020204" pitchFamily="34" charset="0"/>
                <a:ea typeface="DejaVu Sans"/>
                <a:cs typeface="DejaVu Sans"/>
              </a:defRPr>
            </a:lvl1pPr>
            <a:lvl2pPr marL="742950" indent="-285750">
              <a:spcBef>
                <a:spcPct val="30000"/>
              </a:spcBef>
              <a:defRPr sz="1200">
                <a:solidFill>
                  <a:schemeClr val="tx1"/>
                </a:solidFill>
                <a:latin typeface="Arial" panose="020B0604020202020204" pitchFamily="34" charset="0"/>
                <a:ea typeface="DejaVu Sans"/>
                <a:cs typeface="DejaVu Sans"/>
              </a:defRPr>
            </a:lvl2pPr>
            <a:lvl3pPr marL="1143000" indent="-228600">
              <a:spcBef>
                <a:spcPct val="30000"/>
              </a:spcBef>
              <a:defRPr sz="1200">
                <a:solidFill>
                  <a:schemeClr val="tx1"/>
                </a:solidFill>
                <a:latin typeface="Arial" panose="020B0604020202020204" pitchFamily="34" charset="0"/>
                <a:ea typeface="DejaVu Sans"/>
                <a:cs typeface="DejaVu Sans"/>
              </a:defRPr>
            </a:lvl3pPr>
            <a:lvl4pPr marL="1600200" indent="-228600">
              <a:spcBef>
                <a:spcPct val="30000"/>
              </a:spcBef>
              <a:defRPr sz="1200">
                <a:solidFill>
                  <a:schemeClr val="tx1"/>
                </a:solidFill>
                <a:latin typeface="Arial" panose="020B0604020202020204" pitchFamily="34" charset="0"/>
                <a:ea typeface="DejaVu Sans"/>
                <a:cs typeface="DejaVu Sans"/>
              </a:defRPr>
            </a:lvl4pPr>
            <a:lvl5pPr marL="2057400" indent="-228600">
              <a:spcBef>
                <a:spcPct val="30000"/>
              </a:spcBef>
              <a:defRPr sz="1200">
                <a:solidFill>
                  <a:schemeClr val="tx1"/>
                </a:solidFill>
                <a:latin typeface="Arial" panose="020B0604020202020204" pitchFamily="34" charset="0"/>
                <a:ea typeface="DejaVu Sans"/>
                <a:cs typeface="DejaVu Sans"/>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DejaVu Sans"/>
                <a:cs typeface="DejaVu Sans"/>
              </a:defRPr>
            </a:lvl9pPr>
          </a:lstStyle>
          <a:p>
            <a:pPr fontAlgn="base">
              <a:spcBef>
                <a:spcPct val="0"/>
              </a:spcBef>
              <a:spcAft>
                <a:spcPct val="0"/>
              </a:spcAft>
            </a:pPr>
            <a:fld id="{5DF294C0-1D5D-4E5B-AD7F-1BB3F4F73513}" type="slidenum">
              <a:rPr lang="en-US" altLang="en-US" sz="1400" smtClean="0">
                <a:solidFill>
                  <a:srgbClr val="000000"/>
                </a:solidFill>
              </a:rPr>
              <a:pPr fontAlgn="base">
                <a:spcBef>
                  <a:spcPct val="0"/>
                </a:spcBef>
                <a:spcAft>
                  <a:spcPct val="0"/>
                </a:spcAft>
              </a:pPr>
              <a:t>9</a:t>
            </a:fld>
            <a:endParaRPr altLang="en-US" sz="1400">
              <a:solidFill>
                <a:srgbClr val="000000"/>
              </a:solidFill>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Google Shape;8;p5">
            <a:extLst>
              <a:ext uri="{FF2B5EF4-FFF2-40B4-BE49-F238E27FC236}">
                <a16:creationId xmlns:a16="http://schemas.microsoft.com/office/drawing/2014/main" id="{10569C70-403F-F256-3740-5E2B198640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3" name="Google Shape;10;p5">
            <a:extLst>
              <a:ext uri="{FF2B5EF4-FFF2-40B4-BE49-F238E27FC236}">
                <a16:creationId xmlns:a16="http://schemas.microsoft.com/office/drawing/2014/main" id="{9FD72614-42CA-F698-2B65-8246A9158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93"/>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4" name="Google Shape;11;p5">
            <a:extLst>
              <a:ext uri="{FF2B5EF4-FFF2-40B4-BE49-F238E27FC236}">
                <a16:creationId xmlns:a16="http://schemas.microsoft.com/office/drawing/2014/main" id="{B6DA3EF8-3547-A786-816F-B773C5AA25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5" name="Google Shape;12;p5">
            <a:extLst>
              <a:ext uri="{FF2B5EF4-FFF2-40B4-BE49-F238E27FC236}">
                <a16:creationId xmlns:a16="http://schemas.microsoft.com/office/drawing/2014/main" id="{7ED6EA3C-E5DE-26E8-859E-ADC2F356AEC6}"/>
              </a:ext>
            </a:extLst>
          </p:cNvPr>
          <p:cNvSpPr/>
          <p:nvPr/>
        </p:nvSpPr>
        <p:spPr>
          <a:xfrm>
            <a:off x="9472613" y="4849813"/>
            <a:ext cx="503237" cy="414337"/>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fld id="{D4F478A4-C1EA-4772-B62A-2A10503CBA4B}" type="slidenum">
              <a:rPr lang="en-US" sz="1400">
                <a:solidFill>
                  <a:srgbClr val="FFFFFF"/>
                </a:solidFill>
              </a:rPr>
              <a:pPr eaLnBrk="1" fontAlgn="auto" hangingPunct="1">
                <a:spcBef>
                  <a:spcPts val="0"/>
                </a:spcBef>
                <a:spcAft>
                  <a:spcPts val="0"/>
                </a:spcAft>
                <a:defRPr/>
              </a:pPr>
              <a:t>‹#›</a:t>
            </a:fld>
            <a:endParaRPr lang="en-IN" sz="1400">
              <a:solidFill>
                <a:srgbClr val="000000"/>
              </a:solidFill>
            </a:endParaRPr>
          </a:p>
        </p:txBody>
      </p:sp>
      <p:sp>
        <p:nvSpPr>
          <p:cNvPr id="6" name="PlaceHolder 1"/>
          <p:cNvSpPr>
            <a:spLocks noGrp="1"/>
          </p:cNvSpPr>
          <p:nvPr>
            <p:ph type="title"/>
          </p:nvPr>
        </p:nvSpPr>
        <p:spPr>
          <a:xfrm>
            <a:off x="503640" y="215280"/>
            <a:ext cx="9069120" cy="901800"/>
          </a:xfrm>
          <a:prstGeom prst="rect">
            <a:avLst/>
          </a:prstGeom>
          <a:noFill/>
          <a:ln w="0">
            <a:noFill/>
          </a:ln>
        </p:spPr>
        <p:txBody>
          <a:bodyPr lIns="0" tIns="0" rIns="0" bIns="0" anchor="ctr">
            <a:noAutofit/>
          </a:bodyPr>
          <a:lstStyle>
            <a:lvl1pPr indent="0" algn="l">
              <a:buNone/>
              <a:defRPr lang="en-US" sz="1400" b="0" u="none" strike="noStrike">
                <a:solidFill>
                  <a:srgbClr val="000000"/>
                </a:solidFill>
                <a:effectLst/>
                <a:uFillTx/>
                <a:latin typeface="Arial" panose="020B0604020202020204"/>
              </a:defRPr>
            </a:lvl1pPr>
          </a:lstStyle>
          <a:p>
            <a:r>
              <a:rPr lang="en-US"/>
              <a:t>Click to edit Master title style</a:t>
            </a:r>
          </a:p>
        </p:txBody>
      </p:sp>
      <p:sp>
        <p:nvSpPr>
          <p:cNvPr id="7" name="PlaceHolder 2"/>
          <p:cNvSpPr>
            <a:spLocks noGrp="1"/>
          </p:cNvSpPr>
          <p:nvPr>
            <p:ph type="body"/>
          </p:nvPr>
        </p:nvSpPr>
        <p:spPr>
          <a:xfrm>
            <a:off x="503640" y="1264320"/>
            <a:ext cx="9069120" cy="3133800"/>
          </a:xfrm>
          <a:prstGeom prst="rect">
            <a:avLst/>
          </a:prstGeom>
          <a:noFill/>
          <a:ln w="0">
            <a:noFill/>
          </a:ln>
        </p:spPr>
        <p:txBody>
          <a:bodyPr lIns="0" tIns="0" rIns="0" bIns="0" anchor="t">
            <a:norm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5577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 name="Google Shape;8;p5">
            <a:extLst>
              <a:ext uri="{FF2B5EF4-FFF2-40B4-BE49-F238E27FC236}">
                <a16:creationId xmlns:a16="http://schemas.microsoft.com/office/drawing/2014/main" id="{1B6EC4DD-F2B2-696C-A4E6-657C85BB65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3" name="Google Shape;10;p5">
            <a:extLst>
              <a:ext uri="{FF2B5EF4-FFF2-40B4-BE49-F238E27FC236}">
                <a16:creationId xmlns:a16="http://schemas.microsoft.com/office/drawing/2014/main" id="{3C1FA7E6-4B0F-9B6C-388C-8CC7EFE24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93"/>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4" name="Google Shape;11;p5">
            <a:extLst>
              <a:ext uri="{FF2B5EF4-FFF2-40B4-BE49-F238E27FC236}">
                <a16:creationId xmlns:a16="http://schemas.microsoft.com/office/drawing/2014/main" id="{1AAF4D53-10B8-8E9D-F6DB-9795AEBAE5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5" name="Google Shape;12;p5">
            <a:extLst>
              <a:ext uri="{FF2B5EF4-FFF2-40B4-BE49-F238E27FC236}">
                <a16:creationId xmlns:a16="http://schemas.microsoft.com/office/drawing/2014/main" id="{2E080CA7-72E8-BE82-188E-A2B38E9BE21E}"/>
              </a:ext>
            </a:extLst>
          </p:cNvPr>
          <p:cNvSpPr/>
          <p:nvPr/>
        </p:nvSpPr>
        <p:spPr>
          <a:xfrm>
            <a:off x="9472613" y="4849813"/>
            <a:ext cx="503237" cy="414337"/>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fld id="{2868C9C9-C166-44E2-959F-61A7F36A76F4}" type="slidenum">
              <a:rPr lang="en-US" sz="1400">
                <a:solidFill>
                  <a:srgbClr val="FFFFFF"/>
                </a:solidFill>
              </a:rPr>
              <a:pPr eaLnBrk="1" fontAlgn="auto" hangingPunct="1">
                <a:spcBef>
                  <a:spcPts val="0"/>
                </a:spcBef>
                <a:spcAft>
                  <a:spcPts val="0"/>
                </a:spcAft>
                <a:defRPr/>
              </a:pPr>
              <a:t>‹#›</a:t>
            </a:fld>
            <a:endParaRPr lang="en-IN" sz="1400">
              <a:solidFill>
                <a:srgbClr val="000000"/>
              </a:solidFill>
            </a:endParaRPr>
          </a:p>
        </p:txBody>
      </p:sp>
      <p:sp>
        <p:nvSpPr>
          <p:cNvPr id="12" name="PlaceHolder 1"/>
          <p:cNvSpPr>
            <a:spLocks noGrp="1"/>
          </p:cNvSpPr>
          <p:nvPr>
            <p:ph type="title"/>
          </p:nvPr>
        </p:nvSpPr>
        <p:spPr>
          <a:xfrm>
            <a:off x="2399040" y="430200"/>
            <a:ext cx="5279040" cy="357120"/>
          </a:xfrm>
          <a:prstGeom prst="rect">
            <a:avLst/>
          </a:prstGeom>
          <a:noFill/>
          <a:ln w="0">
            <a:noFill/>
          </a:ln>
        </p:spPr>
        <p:txBody>
          <a:bodyPr lIns="91440" tIns="91440" rIns="91440" bIns="91440" numCol="1" spcCol="0" anchor="ctr">
            <a:noAutofit/>
          </a:bodyPr>
          <a:lstStyle>
            <a:lvl1pPr indent="0" algn="l">
              <a:buNone/>
              <a:defRPr lang="en-US" sz="2500" b="0" u="none" strike="noStrike">
                <a:solidFill>
                  <a:srgbClr val="000000"/>
                </a:solidFill>
                <a:effectLst/>
                <a:uFillTx/>
                <a:latin typeface="Arial" panose="020B0604020202020204"/>
              </a:defRPr>
            </a:lvl1pPr>
          </a:lstStyle>
          <a:p>
            <a:r>
              <a:rPr lang="en-US"/>
              <a:t>Click to edit Master title style</a:t>
            </a:r>
          </a:p>
        </p:txBody>
      </p:sp>
      <p:sp>
        <p:nvSpPr>
          <p:cNvPr id="13" name="PlaceHolder 2"/>
          <p:cNvSpPr>
            <a:spLocks noGrp="1"/>
          </p:cNvSpPr>
          <p:nvPr>
            <p:ph type="body"/>
          </p:nvPr>
        </p:nvSpPr>
        <p:spPr>
          <a:xfrm>
            <a:off x="503640" y="1264320"/>
            <a:ext cx="9069120" cy="3133800"/>
          </a:xfrm>
          <a:prstGeom prst="rect">
            <a:avLst/>
          </a:prstGeom>
          <a:noFill/>
          <a:ln w="0">
            <a:noFill/>
          </a:ln>
        </p:spPr>
        <p:txBody>
          <a:bodyPr lIns="0" tIns="0" rIns="0" bIns="0" anchor="t">
            <a:norm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2000" b="0" u="none" strike="noStrike">
                <a:solidFill>
                  <a:srgbClr val="000000"/>
                </a:solidFill>
                <a:effectLst/>
                <a:uFillTx/>
                <a:latin typeface="Arial" panose="020B0604020202020204"/>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861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Title only 1">
    <p:spTree>
      <p:nvGrpSpPr>
        <p:cNvPr id="1" name=""/>
        <p:cNvGrpSpPr/>
        <p:nvPr/>
      </p:nvGrpSpPr>
      <p:grpSpPr>
        <a:xfrm>
          <a:off x="0" y="0"/>
          <a:ext cx="0" cy="0"/>
          <a:chOff x="0" y="0"/>
          <a:chExt cx="0" cy="0"/>
        </a:xfrm>
      </p:grpSpPr>
      <p:pic>
        <p:nvPicPr>
          <p:cNvPr id="2" name="Google Shape;8;p5">
            <a:extLst>
              <a:ext uri="{FF2B5EF4-FFF2-40B4-BE49-F238E27FC236}">
                <a16:creationId xmlns:a16="http://schemas.microsoft.com/office/drawing/2014/main" id="{19894F33-DC4B-03A3-8EDE-DC06F232E8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3" name="Google Shape;10;p5">
            <a:extLst>
              <a:ext uri="{FF2B5EF4-FFF2-40B4-BE49-F238E27FC236}">
                <a16:creationId xmlns:a16="http://schemas.microsoft.com/office/drawing/2014/main" id="{192B9A3D-10A2-06AE-0E5F-09574E52B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93"/>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4" name="Google Shape;11;p5">
            <a:extLst>
              <a:ext uri="{FF2B5EF4-FFF2-40B4-BE49-F238E27FC236}">
                <a16:creationId xmlns:a16="http://schemas.microsoft.com/office/drawing/2014/main" id="{53D3198C-3E07-D846-F8BE-BA54D963CF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5" name="Google Shape;12;p5">
            <a:extLst>
              <a:ext uri="{FF2B5EF4-FFF2-40B4-BE49-F238E27FC236}">
                <a16:creationId xmlns:a16="http://schemas.microsoft.com/office/drawing/2014/main" id="{FAA70DF2-A2C4-034B-27B4-FF606B694B10}"/>
              </a:ext>
            </a:extLst>
          </p:cNvPr>
          <p:cNvSpPr/>
          <p:nvPr/>
        </p:nvSpPr>
        <p:spPr>
          <a:xfrm>
            <a:off x="9472613" y="4849813"/>
            <a:ext cx="503237" cy="414337"/>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fld id="{445A7079-D2DD-41C1-97C1-6D3EF1DAF9D3}" type="slidenum">
              <a:rPr lang="en-US" sz="1400">
                <a:solidFill>
                  <a:srgbClr val="FFFFFF"/>
                </a:solidFill>
              </a:rPr>
              <a:pPr eaLnBrk="1" fontAlgn="auto" hangingPunct="1">
                <a:spcBef>
                  <a:spcPts val="0"/>
                </a:spcBef>
                <a:spcAft>
                  <a:spcPts val="0"/>
                </a:spcAft>
                <a:defRPr/>
              </a:pPr>
              <a:t>‹#›</a:t>
            </a:fld>
            <a:endParaRPr lang="en-IN" sz="1400">
              <a:solidFill>
                <a:srgbClr val="000000"/>
              </a:solidFill>
            </a:endParaRPr>
          </a:p>
        </p:txBody>
      </p:sp>
      <p:sp>
        <p:nvSpPr>
          <p:cNvPr id="18" name="PlaceHolder 1"/>
          <p:cNvSpPr>
            <a:spLocks noGrp="1"/>
          </p:cNvSpPr>
          <p:nvPr>
            <p:ph type="title"/>
          </p:nvPr>
        </p:nvSpPr>
        <p:spPr>
          <a:xfrm>
            <a:off x="504000" y="430200"/>
            <a:ext cx="4534560" cy="539640"/>
          </a:xfrm>
          <a:prstGeom prst="rect">
            <a:avLst/>
          </a:prstGeom>
          <a:noFill/>
          <a:ln w="0">
            <a:noFill/>
          </a:ln>
        </p:spPr>
        <p:txBody>
          <a:bodyPr lIns="91440" tIns="91440" rIns="91440" bIns="91440" numCol="1" spcCol="0" anchor="ctr">
            <a:noAutofit/>
          </a:bodyPr>
          <a:lstStyle>
            <a:lvl1pPr indent="0" algn="l">
              <a:buNone/>
              <a:defRPr lang="en-US" sz="1400" b="0" u="none" strike="noStrike">
                <a:solidFill>
                  <a:srgbClr val="000000"/>
                </a:solidFill>
                <a:effectLst/>
                <a:uFillTx/>
                <a:latin typeface="Arial" panose="020B0604020202020204"/>
              </a:defRPr>
            </a:lvl1pPr>
          </a:lstStyle>
          <a:p>
            <a:r>
              <a:rPr lang="en-US"/>
              <a:t>Click to edit Master title style</a:t>
            </a:r>
          </a:p>
        </p:txBody>
      </p:sp>
    </p:spTree>
    <p:extLst>
      <p:ext uri="{BB962C8B-B14F-4D97-AF65-F5344CB8AC3E}">
        <p14:creationId xmlns:p14="http://schemas.microsoft.com/office/powerpoint/2010/main" val="2533458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One column text">
    <p:spTree>
      <p:nvGrpSpPr>
        <p:cNvPr id="1" name=""/>
        <p:cNvGrpSpPr/>
        <p:nvPr/>
      </p:nvGrpSpPr>
      <p:grpSpPr>
        <a:xfrm>
          <a:off x="0" y="0"/>
          <a:ext cx="0" cy="0"/>
          <a:chOff x="0" y="0"/>
          <a:chExt cx="0" cy="0"/>
        </a:xfrm>
      </p:grpSpPr>
      <p:pic>
        <p:nvPicPr>
          <p:cNvPr id="2" name="Google Shape;8;p5">
            <a:extLst>
              <a:ext uri="{FF2B5EF4-FFF2-40B4-BE49-F238E27FC236}">
                <a16:creationId xmlns:a16="http://schemas.microsoft.com/office/drawing/2014/main" id="{CF940724-2137-FCF2-7C4E-28E82AFAA6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3" name="Google Shape;10;p5">
            <a:extLst>
              <a:ext uri="{FF2B5EF4-FFF2-40B4-BE49-F238E27FC236}">
                <a16:creationId xmlns:a16="http://schemas.microsoft.com/office/drawing/2014/main" id="{46F5F922-9557-FA03-24C1-C6F4F173C7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93"/>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4" name="Google Shape;11;p5">
            <a:extLst>
              <a:ext uri="{FF2B5EF4-FFF2-40B4-BE49-F238E27FC236}">
                <a16:creationId xmlns:a16="http://schemas.microsoft.com/office/drawing/2014/main" id="{B752DB70-56C2-4964-7EA8-D9C90132C2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5" name="Google Shape;12;p5">
            <a:extLst>
              <a:ext uri="{FF2B5EF4-FFF2-40B4-BE49-F238E27FC236}">
                <a16:creationId xmlns:a16="http://schemas.microsoft.com/office/drawing/2014/main" id="{9031F9AC-26E7-06A0-209C-9B9E5D68658E}"/>
              </a:ext>
            </a:extLst>
          </p:cNvPr>
          <p:cNvSpPr/>
          <p:nvPr/>
        </p:nvSpPr>
        <p:spPr>
          <a:xfrm>
            <a:off x="9472613" y="4849813"/>
            <a:ext cx="503237" cy="414337"/>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fld id="{E611E460-56B4-445D-B1A4-66C353D1B994}" type="slidenum">
              <a:rPr lang="en-US" sz="1400">
                <a:solidFill>
                  <a:srgbClr val="FFFFFF"/>
                </a:solidFill>
              </a:rPr>
              <a:pPr eaLnBrk="1" fontAlgn="auto" hangingPunct="1">
                <a:spcBef>
                  <a:spcPts val="0"/>
                </a:spcBef>
                <a:spcAft>
                  <a:spcPts val="0"/>
                </a:spcAft>
                <a:defRPr/>
              </a:pPr>
              <a:t>‹#›</a:t>
            </a:fld>
            <a:endParaRPr lang="en-IN" sz="1400">
              <a:solidFill>
                <a:srgbClr val="000000"/>
              </a:solidFill>
            </a:endParaRPr>
          </a:p>
        </p:txBody>
      </p:sp>
      <p:sp>
        <p:nvSpPr>
          <p:cNvPr id="23" name="PlaceHolder 1"/>
          <p:cNvSpPr>
            <a:spLocks noGrp="1"/>
          </p:cNvSpPr>
          <p:nvPr>
            <p:ph type="title"/>
          </p:nvPr>
        </p:nvSpPr>
        <p:spPr>
          <a:xfrm>
            <a:off x="343440" y="583560"/>
            <a:ext cx="3094200" cy="793440"/>
          </a:xfrm>
          <a:prstGeom prst="rect">
            <a:avLst/>
          </a:prstGeom>
          <a:noFill/>
          <a:ln w="0">
            <a:noFill/>
          </a:ln>
        </p:spPr>
        <p:txBody>
          <a:bodyPr lIns="91440" tIns="91440" rIns="91440" bIns="91440" numCol="1" spcCol="0" anchor="b">
            <a:noAutofit/>
          </a:bodyPr>
          <a:lstStyle>
            <a:lvl1pPr indent="0" algn="l">
              <a:buNone/>
              <a:defRPr lang="en-US" sz="2400" b="0" u="none" strike="noStrike">
                <a:solidFill>
                  <a:srgbClr val="000000"/>
                </a:solidFill>
                <a:effectLst/>
                <a:uFillTx/>
                <a:latin typeface="Arial" panose="020B0604020202020204"/>
              </a:defRPr>
            </a:lvl1pPr>
          </a:lstStyle>
          <a:p>
            <a:r>
              <a:rPr lang="en-US"/>
              <a:t>Click to edit Master title style</a:t>
            </a:r>
          </a:p>
        </p:txBody>
      </p:sp>
      <p:sp>
        <p:nvSpPr>
          <p:cNvPr id="24" name="PlaceHolder 2"/>
          <p:cNvSpPr>
            <a:spLocks noGrp="1"/>
          </p:cNvSpPr>
          <p:nvPr>
            <p:ph type="body"/>
          </p:nvPr>
        </p:nvSpPr>
        <p:spPr>
          <a:xfrm>
            <a:off x="343440" y="1459800"/>
            <a:ext cx="3094200" cy="3340080"/>
          </a:xfrm>
          <a:prstGeom prst="rect">
            <a:avLst/>
          </a:prstGeom>
          <a:noFill/>
          <a:ln w="0">
            <a:noFill/>
          </a:ln>
        </p:spPr>
        <p:txBody>
          <a:bodyPr lIns="91440" tIns="91440" rIns="91440" bIns="91440" numCol="1" spcCol="0" anchor="t">
            <a:noAutofit/>
          </a:bodyPr>
          <a:lstStyle>
            <a:lvl1pPr algn="l">
              <a:spcBef>
                <a:spcPts val="1415"/>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2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2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1200" b="0" u="none" strike="noStrike">
                <a:solidFill>
                  <a:srgbClr val="000000"/>
                </a:solidFill>
                <a:effectLst/>
                <a:uFillTx/>
                <a:latin typeface="Arial" panose="020B0604020202020204"/>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059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Main point">
    <p:spTree>
      <p:nvGrpSpPr>
        <p:cNvPr id="1" name=""/>
        <p:cNvGrpSpPr/>
        <p:nvPr/>
      </p:nvGrpSpPr>
      <p:grpSpPr>
        <a:xfrm>
          <a:off x="0" y="0"/>
          <a:ext cx="0" cy="0"/>
          <a:chOff x="0" y="0"/>
          <a:chExt cx="0" cy="0"/>
        </a:xfrm>
      </p:grpSpPr>
      <p:pic>
        <p:nvPicPr>
          <p:cNvPr id="2" name="Google Shape;8;p5">
            <a:extLst>
              <a:ext uri="{FF2B5EF4-FFF2-40B4-BE49-F238E27FC236}">
                <a16:creationId xmlns:a16="http://schemas.microsoft.com/office/drawing/2014/main" id="{C26B65C8-85C2-A033-E818-DC8563888D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3" name="Google Shape;10;p5">
            <a:extLst>
              <a:ext uri="{FF2B5EF4-FFF2-40B4-BE49-F238E27FC236}">
                <a16:creationId xmlns:a16="http://schemas.microsoft.com/office/drawing/2014/main" id="{79D2361D-2E3C-77BC-C1B5-101BA30A89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93"/>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4" name="Google Shape;11;p5">
            <a:extLst>
              <a:ext uri="{FF2B5EF4-FFF2-40B4-BE49-F238E27FC236}">
                <a16:creationId xmlns:a16="http://schemas.microsoft.com/office/drawing/2014/main" id="{CB87EE7B-E8EE-E4EF-F220-751B0E6F71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5" name="Google Shape;12;p5">
            <a:extLst>
              <a:ext uri="{FF2B5EF4-FFF2-40B4-BE49-F238E27FC236}">
                <a16:creationId xmlns:a16="http://schemas.microsoft.com/office/drawing/2014/main" id="{0F97767E-E908-D303-879F-DC366D11B4E5}"/>
              </a:ext>
            </a:extLst>
          </p:cNvPr>
          <p:cNvSpPr/>
          <p:nvPr/>
        </p:nvSpPr>
        <p:spPr>
          <a:xfrm>
            <a:off x="9472613" y="4849813"/>
            <a:ext cx="503237" cy="414337"/>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fld id="{3D32A1F2-19F1-43C9-BA46-229BBDAB41A5}" type="slidenum">
              <a:rPr lang="en-US" sz="1400">
                <a:solidFill>
                  <a:srgbClr val="FFFFFF"/>
                </a:solidFill>
              </a:rPr>
              <a:pPr eaLnBrk="1" fontAlgn="auto" hangingPunct="1">
                <a:spcBef>
                  <a:spcPts val="0"/>
                </a:spcBef>
                <a:spcAft>
                  <a:spcPts val="0"/>
                </a:spcAft>
                <a:defRPr/>
              </a:pPr>
              <a:t>‹#›</a:t>
            </a:fld>
            <a:endParaRPr lang="en-IN" sz="1400">
              <a:solidFill>
                <a:srgbClr val="000000"/>
              </a:solidFill>
            </a:endParaRPr>
          </a:p>
        </p:txBody>
      </p:sp>
      <p:sp>
        <p:nvSpPr>
          <p:cNvPr id="29" name="PlaceHolder 1"/>
          <p:cNvSpPr>
            <a:spLocks noGrp="1"/>
          </p:cNvSpPr>
          <p:nvPr>
            <p:ph type="title"/>
          </p:nvPr>
        </p:nvSpPr>
        <p:spPr>
          <a:xfrm>
            <a:off x="540360" y="473040"/>
            <a:ext cx="7017480" cy="4297680"/>
          </a:xfrm>
          <a:prstGeom prst="rect">
            <a:avLst/>
          </a:prstGeom>
          <a:noFill/>
          <a:ln w="0">
            <a:noFill/>
          </a:ln>
        </p:spPr>
        <p:txBody>
          <a:bodyPr lIns="91440" tIns="91440" rIns="91440" bIns="91440" numCol="1" spcCol="0" anchor="ctr">
            <a:noAutofit/>
          </a:bodyPr>
          <a:lstStyle>
            <a:lvl1pPr indent="0" algn="l">
              <a:buNone/>
              <a:defRPr lang="en-US" sz="4800" b="0" u="none" strike="noStrike">
                <a:solidFill>
                  <a:srgbClr val="000000"/>
                </a:solidFill>
                <a:effectLst/>
                <a:uFillTx/>
                <a:latin typeface="Arial" panose="020B0604020202020204"/>
              </a:defRPr>
            </a:lvl1pPr>
          </a:lstStyle>
          <a:p>
            <a:r>
              <a:rPr lang="en-US"/>
              <a:t>Click to edit Master title style</a:t>
            </a:r>
          </a:p>
        </p:txBody>
      </p:sp>
    </p:spTree>
    <p:extLst>
      <p:ext uri="{BB962C8B-B14F-4D97-AF65-F5344CB8AC3E}">
        <p14:creationId xmlns:p14="http://schemas.microsoft.com/office/powerpoint/2010/main" val="3303196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Section title and description">
    <p:spTree>
      <p:nvGrpSpPr>
        <p:cNvPr id="1" name=""/>
        <p:cNvGrpSpPr/>
        <p:nvPr/>
      </p:nvGrpSpPr>
      <p:grpSpPr>
        <a:xfrm>
          <a:off x="0" y="0"/>
          <a:ext cx="0" cy="0"/>
          <a:chOff x="0" y="0"/>
          <a:chExt cx="0" cy="0"/>
        </a:xfrm>
      </p:grpSpPr>
      <p:pic>
        <p:nvPicPr>
          <p:cNvPr id="2" name="Google Shape;8;p5">
            <a:extLst>
              <a:ext uri="{FF2B5EF4-FFF2-40B4-BE49-F238E27FC236}">
                <a16:creationId xmlns:a16="http://schemas.microsoft.com/office/drawing/2014/main" id="{05F00A17-710A-A4C3-C9AD-0DE7B9A8C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3" name="Google Shape;10;p5">
            <a:extLst>
              <a:ext uri="{FF2B5EF4-FFF2-40B4-BE49-F238E27FC236}">
                <a16:creationId xmlns:a16="http://schemas.microsoft.com/office/drawing/2014/main" id="{A5B74FF8-E831-3F0A-4C1F-778F3966E9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93"/>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4" name="Google Shape;11;p5">
            <a:extLst>
              <a:ext uri="{FF2B5EF4-FFF2-40B4-BE49-F238E27FC236}">
                <a16:creationId xmlns:a16="http://schemas.microsoft.com/office/drawing/2014/main" id="{FD1FDDF1-74E7-EC59-4BC8-3CBFF15821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5" name="Google Shape;12;p5">
            <a:extLst>
              <a:ext uri="{FF2B5EF4-FFF2-40B4-BE49-F238E27FC236}">
                <a16:creationId xmlns:a16="http://schemas.microsoft.com/office/drawing/2014/main" id="{35994467-E0AB-1B79-6872-9E8F433E8876}"/>
              </a:ext>
            </a:extLst>
          </p:cNvPr>
          <p:cNvSpPr/>
          <p:nvPr/>
        </p:nvSpPr>
        <p:spPr>
          <a:xfrm>
            <a:off x="9472613" y="4849813"/>
            <a:ext cx="503237" cy="414337"/>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fld id="{2B3924D7-FD72-4C49-8959-259713FC31C2}" type="slidenum">
              <a:rPr lang="en-US" sz="1400">
                <a:solidFill>
                  <a:srgbClr val="FFFFFF"/>
                </a:solidFill>
              </a:rPr>
              <a:pPr eaLnBrk="1" fontAlgn="auto" hangingPunct="1">
                <a:spcBef>
                  <a:spcPts val="0"/>
                </a:spcBef>
                <a:spcAft>
                  <a:spcPts val="0"/>
                </a:spcAft>
                <a:defRPr/>
              </a:pPr>
              <a:t>‹#›</a:t>
            </a:fld>
            <a:endParaRPr lang="en-IN" sz="1400">
              <a:solidFill>
                <a:srgbClr val="000000"/>
              </a:solidFill>
            </a:endParaRPr>
          </a:p>
        </p:txBody>
      </p:sp>
      <p:sp>
        <p:nvSpPr>
          <p:cNvPr id="6" name="Google Shape;33;p12">
            <a:extLst>
              <a:ext uri="{FF2B5EF4-FFF2-40B4-BE49-F238E27FC236}">
                <a16:creationId xmlns:a16="http://schemas.microsoft.com/office/drawing/2014/main" id="{5A49A814-FC3B-6E17-F34D-EA71CED070A5}"/>
              </a:ext>
            </a:extLst>
          </p:cNvPr>
          <p:cNvSpPr/>
          <p:nvPr/>
        </p:nvSpPr>
        <p:spPr>
          <a:xfrm>
            <a:off x="5038725" y="0"/>
            <a:ext cx="5038725" cy="5403850"/>
          </a:xfrm>
          <a:prstGeom prst="rect">
            <a:avLst/>
          </a:prstGeom>
          <a:solidFill>
            <a:schemeClr val="tx2"/>
          </a:solid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endParaRPr lang="en-US" sz="1400">
              <a:solidFill>
                <a:srgbClr val="000000"/>
              </a:solidFill>
            </a:endParaRPr>
          </a:p>
        </p:txBody>
      </p:sp>
      <p:sp>
        <p:nvSpPr>
          <p:cNvPr id="35" name="PlaceHolder 1"/>
          <p:cNvSpPr>
            <a:spLocks noGrp="1"/>
          </p:cNvSpPr>
          <p:nvPr>
            <p:ph type="title"/>
          </p:nvPr>
        </p:nvSpPr>
        <p:spPr>
          <a:xfrm>
            <a:off x="292680" y="1295640"/>
            <a:ext cx="4457880" cy="1557000"/>
          </a:xfrm>
          <a:prstGeom prst="rect">
            <a:avLst/>
          </a:prstGeom>
          <a:noFill/>
          <a:ln w="0">
            <a:noFill/>
          </a:ln>
        </p:spPr>
        <p:txBody>
          <a:bodyPr lIns="91440" tIns="91440" rIns="91440" bIns="91440" numCol="1" spcCol="0" anchor="b">
            <a:noAutofit/>
          </a:bodyPr>
          <a:lstStyle>
            <a:lvl1pPr indent="0" algn="l">
              <a:buNone/>
              <a:defRPr lang="en-US" sz="4200" b="0" u="none" strike="noStrike">
                <a:solidFill>
                  <a:srgbClr val="000000"/>
                </a:solidFill>
                <a:effectLst/>
                <a:uFillTx/>
                <a:latin typeface="Arial" panose="020B0604020202020204"/>
              </a:defRPr>
            </a:lvl1pPr>
          </a:lstStyle>
          <a:p>
            <a:r>
              <a:rPr lang="en-US"/>
              <a:t>Click to edit Master title style</a:t>
            </a:r>
          </a:p>
        </p:txBody>
      </p:sp>
      <p:sp>
        <p:nvSpPr>
          <p:cNvPr id="36" name="PlaceHolder 2"/>
          <p:cNvSpPr>
            <a:spLocks noGrp="1"/>
          </p:cNvSpPr>
          <p:nvPr>
            <p:ph type="body"/>
          </p:nvPr>
        </p:nvSpPr>
        <p:spPr>
          <a:xfrm>
            <a:off x="5443920" y="760680"/>
            <a:ext cx="4228200" cy="3881880"/>
          </a:xfrm>
          <a:prstGeom prst="rect">
            <a:avLst/>
          </a:prstGeom>
          <a:noFill/>
          <a:ln w="0">
            <a:noFill/>
          </a:ln>
        </p:spPr>
        <p:txBody>
          <a:bodyPr lIns="91440" tIns="91440" rIns="91440" bIns="91440" numCol="1" spcCol="0" anchor="ctr">
            <a:no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laceHolder 3">
            <a:extLst>
              <a:ext uri="{FF2B5EF4-FFF2-40B4-BE49-F238E27FC236}">
                <a16:creationId xmlns:a16="http://schemas.microsoft.com/office/drawing/2014/main" id="{45E04DA8-A5B3-0724-F07F-1F8DD134E22B}"/>
              </a:ext>
            </a:extLst>
          </p:cNvPr>
          <p:cNvSpPr>
            <a:spLocks noGrp="1"/>
          </p:cNvSpPr>
          <p:nvPr>
            <p:ph type="sldNum" idx="10"/>
          </p:nvPr>
        </p:nvSpPr>
        <p:spPr>
          <a:xfrm>
            <a:off x="9337675" y="4899025"/>
            <a:ext cx="604838" cy="414338"/>
          </a:xfrm>
          <a:prstGeom prst="rect">
            <a:avLst/>
          </a:prstGeom>
          <a:ln w="9360"/>
        </p:spPr>
        <p:txBody>
          <a:bodyPr lIns="91440" tIns="91440" rIns="91440" bIns="91440" numCol="1" spcCol="0" anchor="ctr">
            <a:noAutofit/>
          </a:bodyPr>
          <a:lstStyle>
            <a:lvl1pPr indent="0" algn="l" eaLnBrk="1" fontAlgn="auto" hangingPunct="1">
              <a:lnSpc>
                <a:spcPct val="100000"/>
              </a:lnSpc>
              <a:spcBef>
                <a:spcPts val="0"/>
              </a:spcBef>
              <a:spcAft>
                <a:spcPts val="0"/>
              </a:spcAft>
              <a:buNone/>
              <a:defRPr lang="en-US" sz="1400" b="0" u="none" strike="noStrike">
                <a:solidFill>
                  <a:srgbClr val="000000"/>
                </a:solidFill>
                <a:effectLst/>
                <a:uFillTx/>
                <a:latin typeface="Arial" panose="020B0604020202020204"/>
              </a:defRPr>
            </a:lvl1pPr>
          </a:lstStyle>
          <a:p>
            <a:pPr>
              <a:defRPr/>
            </a:pPr>
            <a:fld id="{889367AA-7810-4D48-A926-A06E60BFA29D}" type="slidenum">
              <a:rPr/>
              <a:pPr>
                <a:defRPr/>
              </a:pPr>
              <a:t>‹#›</a:t>
            </a:fld>
            <a:endParaRPr lang="en-IN">
              <a:latin typeface="Times New Roman" panose="02020603050405020304"/>
            </a:endParaRPr>
          </a:p>
        </p:txBody>
      </p:sp>
    </p:spTree>
    <p:extLst>
      <p:ext uri="{BB962C8B-B14F-4D97-AF65-F5344CB8AC3E}">
        <p14:creationId xmlns:p14="http://schemas.microsoft.com/office/powerpoint/2010/main" val="9310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aption">
    <p:spTree>
      <p:nvGrpSpPr>
        <p:cNvPr id="1" name=""/>
        <p:cNvGrpSpPr/>
        <p:nvPr/>
      </p:nvGrpSpPr>
      <p:grpSpPr>
        <a:xfrm>
          <a:off x="0" y="0"/>
          <a:ext cx="0" cy="0"/>
          <a:chOff x="0" y="0"/>
          <a:chExt cx="0" cy="0"/>
        </a:xfrm>
      </p:grpSpPr>
      <p:pic>
        <p:nvPicPr>
          <p:cNvPr id="2" name="Google Shape;8;p5">
            <a:extLst>
              <a:ext uri="{FF2B5EF4-FFF2-40B4-BE49-F238E27FC236}">
                <a16:creationId xmlns:a16="http://schemas.microsoft.com/office/drawing/2014/main" id="{C1FCEF91-6A02-C718-B774-76BFF75663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3" name="Google Shape;10;p5">
            <a:extLst>
              <a:ext uri="{FF2B5EF4-FFF2-40B4-BE49-F238E27FC236}">
                <a16:creationId xmlns:a16="http://schemas.microsoft.com/office/drawing/2014/main" id="{979A34D0-9319-9A7E-08B1-CE6F147AF6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93"/>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4" name="Google Shape;11;p5">
            <a:extLst>
              <a:ext uri="{FF2B5EF4-FFF2-40B4-BE49-F238E27FC236}">
                <a16:creationId xmlns:a16="http://schemas.microsoft.com/office/drawing/2014/main" id="{24CE22A3-3EC3-D559-F3D1-2AE2652D33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5" name="Google Shape;12;p5">
            <a:extLst>
              <a:ext uri="{FF2B5EF4-FFF2-40B4-BE49-F238E27FC236}">
                <a16:creationId xmlns:a16="http://schemas.microsoft.com/office/drawing/2014/main" id="{F95C87EE-FA13-07DA-F0A1-9F48BD348EDB}"/>
              </a:ext>
            </a:extLst>
          </p:cNvPr>
          <p:cNvSpPr/>
          <p:nvPr/>
        </p:nvSpPr>
        <p:spPr>
          <a:xfrm>
            <a:off x="9472613" y="4849813"/>
            <a:ext cx="503237" cy="414337"/>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fld id="{FC26232D-04B9-4C8B-B805-405D803D856B}" type="slidenum">
              <a:rPr lang="en-US" sz="1400">
                <a:solidFill>
                  <a:srgbClr val="FFFFFF"/>
                </a:solidFill>
              </a:rPr>
              <a:pPr eaLnBrk="1" fontAlgn="auto" hangingPunct="1">
                <a:spcBef>
                  <a:spcPts val="0"/>
                </a:spcBef>
                <a:spcAft>
                  <a:spcPts val="0"/>
                </a:spcAft>
                <a:defRPr/>
              </a:pPr>
              <a:t>‹#›</a:t>
            </a:fld>
            <a:endParaRPr lang="en-IN" sz="1400">
              <a:solidFill>
                <a:srgbClr val="000000"/>
              </a:solidFill>
            </a:endParaRPr>
          </a:p>
        </p:txBody>
      </p:sp>
      <p:sp>
        <p:nvSpPr>
          <p:cNvPr id="42" name="PlaceHolder 1"/>
          <p:cNvSpPr>
            <a:spLocks noGrp="1"/>
          </p:cNvSpPr>
          <p:nvPr>
            <p:ph type="body"/>
          </p:nvPr>
        </p:nvSpPr>
        <p:spPr>
          <a:xfrm>
            <a:off x="343440" y="4444560"/>
            <a:ext cx="6610680" cy="635400"/>
          </a:xfrm>
          <a:prstGeom prst="rect">
            <a:avLst/>
          </a:prstGeom>
          <a:noFill/>
          <a:ln w="0">
            <a:noFill/>
          </a:ln>
        </p:spPr>
        <p:txBody>
          <a:bodyPr lIns="91440" tIns="91440" rIns="91440" bIns="91440" numCol="1" spcCol="0" anchor="ctr">
            <a:no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4626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ig number">
    <p:spTree>
      <p:nvGrpSpPr>
        <p:cNvPr id="1" name=""/>
        <p:cNvGrpSpPr/>
        <p:nvPr/>
      </p:nvGrpSpPr>
      <p:grpSpPr>
        <a:xfrm>
          <a:off x="0" y="0"/>
          <a:ext cx="0" cy="0"/>
          <a:chOff x="0" y="0"/>
          <a:chExt cx="0" cy="0"/>
        </a:xfrm>
      </p:grpSpPr>
      <p:pic>
        <p:nvPicPr>
          <p:cNvPr id="2" name="Google Shape;8;p5">
            <a:extLst>
              <a:ext uri="{FF2B5EF4-FFF2-40B4-BE49-F238E27FC236}">
                <a16:creationId xmlns:a16="http://schemas.microsoft.com/office/drawing/2014/main" id="{1BDF8117-4CE6-4AAB-5906-05E18BED0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82013" y="139700"/>
            <a:ext cx="1439862"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3" name="Google Shape;10;p5">
            <a:extLst>
              <a:ext uri="{FF2B5EF4-FFF2-40B4-BE49-F238E27FC236}">
                <a16:creationId xmlns:a16="http://schemas.microsoft.com/office/drawing/2014/main" id="{929C35FD-AA83-533E-A641-317EA17288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693"/>
          <a:stretch>
            <a:fillRect/>
          </a:stretch>
        </p:blipFill>
        <p:spPr bwMode="auto">
          <a:xfrm>
            <a:off x="8582025" y="4283075"/>
            <a:ext cx="149542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pic>
        <p:nvPicPr>
          <p:cNvPr id="4" name="Google Shape;11;p5">
            <a:extLst>
              <a:ext uri="{FF2B5EF4-FFF2-40B4-BE49-F238E27FC236}">
                <a16:creationId xmlns:a16="http://schemas.microsoft.com/office/drawing/2014/main" id="{77C66182-44E3-0E56-8E22-E2E1E3F388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427163"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pic>
      <p:sp>
        <p:nvSpPr>
          <p:cNvPr id="5" name="Google Shape;12;p5">
            <a:extLst>
              <a:ext uri="{FF2B5EF4-FFF2-40B4-BE49-F238E27FC236}">
                <a16:creationId xmlns:a16="http://schemas.microsoft.com/office/drawing/2014/main" id="{201C566C-FAFF-4B02-3F03-9CCB060344AA}"/>
              </a:ext>
            </a:extLst>
          </p:cNvPr>
          <p:cNvSpPr/>
          <p:nvPr/>
        </p:nvSpPr>
        <p:spPr>
          <a:xfrm>
            <a:off x="9472613" y="4849813"/>
            <a:ext cx="503237" cy="414337"/>
          </a:xfrm>
          <a:prstGeom prst="rect">
            <a:avLst/>
          </a:prstGeom>
          <a:noFill/>
          <a:ln w="9525">
            <a:noFill/>
          </a:ln>
        </p:spPr>
        <p:style>
          <a:lnRef idx="0">
            <a:scrgbClr r="0" g="0" b="0"/>
          </a:lnRef>
          <a:fillRef idx="0">
            <a:scrgbClr r="0" g="0" b="0"/>
          </a:fillRef>
          <a:effectRef idx="0">
            <a:scrgbClr r="0" g="0" b="0"/>
          </a:effectRef>
          <a:fontRef idx="minor"/>
        </p:style>
        <p:txBody>
          <a:bodyPr tIns="91440" bIns="91440" anchor="ctr"/>
          <a:lstStyle/>
          <a:p>
            <a:pPr eaLnBrk="1" fontAlgn="auto" hangingPunct="1">
              <a:spcBef>
                <a:spcPts val="0"/>
              </a:spcBef>
              <a:spcAft>
                <a:spcPts val="0"/>
              </a:spcAft>
              <a:defRPr/>
            </a:pPr>
            <a:fld id="{B538A163-50F9-42FB-A4AE-F46517AC4896}" type="slidenum">
              <a:rPr lang="en-US" sz="1400">
                <a:solidFill>
                  <a:srgbClr val="FFFFFF"/>
                </a:solidFill>
              </a:rPr>
              <a:pPr eaLnBrk="1" fontAlgn="auto" hangingPunct="1">
                <a:spcBef>
                  <a:spcPts val="0"/>
                </a:spcBef>
                <a:spcAft>
                  <a:spcPts val="0"/>
                </a:spcAft>
                <a:defRPr/>
              </a:pPr>
              <a:t>‹#›</a:t>
            </a:fld>
            <a:endParaRPr lang="en-IN" sz="1400">
              <a:solidFill>
                <a:srgbClr val="000000"/>
              </a:solidFill>
            </a:endParaRPr>
          </a:p>
        </p:txBody>
      </p:sp>
      <p:sp>
        <p:nvSpPr>
          <p:cNvPr id="47" name="PlaceHolder 1"/>
          <p:cNvSpPr>
            <a:spLocks noGrp="1"/>
          </p:cNvSpPr>
          <p:nvPr>
            <p:ph type="title"/>
          </p:nvPr>
        </p:nvSpPr>
        <p:spPr>
          <a:xfrm>
            <a:off x="343440" y="1162080"/>
            <a:ext cx="9389880" cy="2062440"/>
          </a:xfrm>
          <a:prstGeom prst="rect">
            <a:avLst/>
          </a:prstGeom>
          <a:noFill/>
          <a:ln w="0">
            <a:noFill/>
          </a:ln>
        </p:spPr>
        <p:txBody>
          <a:bodyPr lIns="91440" tIns="91440" rIns="91440" bIns="91440" numCol="1" spcCol="0" anchor="b">
            <a:noAutofit/>
          </a:bodyPr>
          <a:lstStyle>
            <a:lvl1pPr indent="0" algn="ctr">
              <a:lnSpc>
                <a:spcPct val="100000"/>
              </a:lnSpc>
              <a:buNone/>
              <a:defRPr lang="en-US" sz="12000" b="0" u="none" strike="noStrike">
                <a:solidFill>
                  <a:srgbClr val="000000"/>
                </a:solidFill>
                <a:effectLst/>
                <a:uFillTx/>
                <a:latin typeface="Arial" panose="020B0604020202020204"/>
                <a:ea typeface="Arial" panose="020B0604020202020204"/>
              </a:defRPr>
            </a:lvl1pPr>
          </a:lstStyle>
          <a:p>
            <a:r>
              <a:rPr lang="en-US"/>
              <a:t>Click to edit Master title style</a:t>
            </a:r>
          </a:p>
        </p:txBody>
      </p:sp>
      <p:sp>
        <p:nvSpPr>
          <p:cNvPr id="48" name="PlaceHolder 2"/>
          <p:cNvSpPr>
            <a:spLocks noGrp="1"/>
          </p:cNvSpPr>
          <p:nvPr>
            <p:ph type="body"/>
          </p:nvPr>
        </p:nvSpPr>
        <p:spPr>
          <a:xfrm>
            <a:off x="343440" y="3311640"/>
            <a:ext cx="9389880" cy="1366200"/>
          </a:xfrm>
          <a:prstGeom prst="rect">
            <a:avLst/>
          </a:prstGeom>
          <a:noFill/>
          <a:ln w="0">
            <a:noFill/>
          </a:ln>
        </p:spPr>
        <p:txBody>
          <a:bodyPr lIns="91440" tIns="91440" rIns="91440" bIns="91440" numCol="1" spcCol="0" anchor="t">
            <a:noAutofit/>
          </a:bodyPr>
          <a:lstStyle>
            <a:lvl1pPr algn="l">
              <a:spcBef>
                <a:spcPts val="141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1pPr>
            <a:lvl2pPr lvl="1" algn="l">
              <a:spcBef>
                <a:spcPts val="113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2pPr>
            <a:lvl3pPr lvl="2" algn="l">
              <a:spcBef>
                <a:spcPts val="850"/>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3pPr>
            <a:lvl4pPr lvl="3" algn="l">
              <a:spcBef>
                <a:spcPts val="565"/>
              </a:spcBef>
              <a:buClr>
                <a:srgbClr val="000000"/>
              </a:buClr>
              <a:buSzPct val="75000"/>
              <a:buFont typeface="Symbol" panose="05050102010706020507" charset="2"/>
              <a:buChar char=""/>
              <a:defRPr lang="en-US" sz="1400" b="0" u="none" strike="noStrike">
                <a:solidFill>
                  <a:srgbClr val="000000"/>
                </a:solidFill>
                <a:effectLst/>
                <a:uFillTx/>
                <a:latin typeface="Arial" panose="020B0604020202020204"/>
              </a:defRPr>
            </a:lvl4pPr>
            <a:lvl5pPr lvl="4"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5pPr>
            <a:lvl6pPr lvl="5"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6pPr>
            <a:lvl7pPr lvl="6" algn="l">
              <a:spcBef>
                <a:spcPts val="285"/>
              </a:spcBef>
              <a:buClr>
                <a:srgbClr val="000000"/>
              </a:buClr>
              <a:buSzPct val="45000"/>
              <a:buFont typeface="Wingdings" panose="05000000000000000000" pitchFamily="2" charset="2"/>
              <a:buChar char=""/>
              <a:defRPr lang="en-US" sz="1400" b="0" u="none" strike="noStrike">
                <a:solidFill>
                  <a:srgbClr val="000000"/>
                </a:solidFill>
                <a:effectLst/>
                <a:uFillTx/>
                <a:latin typeface="Arial" panose="020B0604020202020204"/>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9904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defRPr>
      </a:lvl5pPr>
      <a:lvl6pPr marL="457200" algn="l" rtl="0" fontAlgn="base">
        <a:lnSpc>
          <a:spcPct val="90000"/>
        </a:lnSpc>
        <a:spcBef>
          <a:spcPct val="0"/>
        </a:spcBef>
        <a:spcAft>
          <a:spcPct val="0"/>
        </a:spcAft>
        <a:defRPr sz="4400">
          <a:solidFill>
            <a:schemeClr val="tx1"/>
          </a:solidFill>
          <a:latin typeface="Arial" panose="020B0604020202020204" pitchFamily="34" charset="0"/>
        </a:defRPr>
      </a:lvl6pPr>
      <a:lvl7pPr marL="914400" algn="l" rtl="0" fontAlgn="base">
        <a:lnSpc>
          <a:spcPct val="90000"/>
        </a:lnSpc>
        <a:spcBef>
          <a:spcPct val="0"/>
        </a:spcBef>
        <a:spcAft>
          <a:spcPct val="0"/>
        </a:spcAft>
        <a:defRPr sz="4400">
          <a:solidFill>
            <a:schemeClr val="tx1"/>
          </a:solidFill>
          <a:latin typeface="Arial" panose="020B0604020202020204" pitchFamily="34" charset="0"/>
        </a:defRPr>
      </a:lvl7pPr>
      <a:lvl8pPr marL="1371600" algn="l" rtl="0" fontAlgn="base">
        <a:lnSpc>
          <a:spcPct val="90000"/>
        </a:lnSpc>
        <a:spcBef>
          <a:spcPct val="0"/>
        </a:spcBef>
        <a:spcAft>
          <a:spcPct val="0"/>
        </a:spcAft>
        <a:defRPr sz="4400">
          <a:solidFill>
            <a:schemeClr val="tx1"/>
          </a:solidFill>
          <a:latin typeface="Arial" panose="020B0604020202020204" pitchFamily="34" charset="0"/>
        </a:defRPr>
      </a:lvl8pPr>
      <a:lvl9pPr marL="1828800" algn="l" rtl="0" fontAlgn="base">
        <a:lnSpc>
          <a:spcPct val="90000"/>
        </a:lnSpc>
        <a:spcBef>
          <a:spcPct val="0"/>
        </a:spcBef>
        <a:spcAft>
          <a:spcPct val="0"/>
        </a:spcAft>
        <a:defRPr sz="4400">
          <a:solidFill>
            <a:schemeClr val="tx1"/>
          </a:solidFill>
          <a:latin typeface="Arial" panose="020B060402020202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Google Shape;49;p15">
            <a:extLst>
              <a:ext uri="{FF2B5EF4-FFF2-40B4-BE49-F238E27FC236}">
                <a16:creationId xmlns:a16="http://schemas.microsoft.com/office/drawing/2014/main" id="{B9939D47-9FBF-D9CA-9EBF-B106721B8FFD}"/>
              </a:ext>
            </a:extLst>
          </p:cNvPr>
          <p:cNvSpPr/>
          <p:nvPr/>
        </p:nvSpPr>
        <p:spPr>
          <a:xfrm>
            <a:off x="1143000" y="311150"/>
            <a:ext cx="7086600" cy="639763"/>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ctr"/>
          <a:lstStyle/>
          <a:p>
            <a:pPr eaLnBrk="1" fontAlgn="auto" hangingPunct="1">
              <a:spcBef>
                <a:spcPts val="0"/>
              </a:spcBef>
              <a:spcAft>
                <a:spcPts val="0"/>
              </a:spcAft>
              <a:defRPr/>
            </a:pPr>
            <a:r>
              <a:rPr lang="en-IN" sz="2400" b="1" dirty="0">
                <a:solidFill>
                  <a:srgbClr val="0070C0"/>
                </a:solidFill>
                <a:latin typeface="Georgia" panose="02040502050405020303"/>
              </a:rPr>
              <a:t>Customer churn prediction &amp; Business intelligence System</a:t>
            </a:r>
            <a:endParaRPr lang="en-IN" sz="2400" dirty="0">
              <a:solidFill>
                <a:srgbClr val="000000"/>
              </a:solidFill>
            </a:endParaRPr>
          </a:p>
        </p:txBody>
      </p:sp>
      <p:sp>
        <p:nvSpPr>
          <p:cNvPr id="56" name="Google Shape;49;p15">
            <a:extLst>
              <a:ext uri="{FF2B5EF4-FFF2-40B4-BE49-F238E27FC236}">
                <a16:creationId xmlns:a16="http://schemas.microsoft.com/office/drawing/2014/main" id="{0D4277D4-2FC4-C49B-01E0-98C3151F174D}"/>
              </a:ext>
            </a:extLst>
          </p:cNvPr>
          <p:cNvSpPr/>
          <p:nvPr/>
        </p:nvSpPr>
        <p:spPr>
          <a:xfrm>
            <a:off x="706438" y="3870325"/>
            <a:ext cx="4152900" cy="1093788"/>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ctr"/>
          <a:lstStyle/>
          <a:p>
            <a:pPr eaLnBrk="1" fontAlgn="auto" hangingPunct="1">
              <a:spcBef>
                <a:spcPts val="0"/>
              </a:spcBef>
              <a:spcAft>
                <a:spcPts val="0"/>
              </a:spcAft>
              <a:defRPr/>
            </a:pPr>
            <a:r>
              <a:rPr lang="en-US" sz="1350" b="1" dirty="0">
                <a:solidFill>
                  <a:srgbClr val="0070C0"/>
                </a:solidFill>
                <a:latin typeface="Georgia" panose="02040502050405020303"/>
              </a:rPr>
              <a:t>Team No: 8</a:t>
            </a:r>
            <a:endParaRPr lang="en-IN" sz="1350" dirty="0">
              <a:solidFill>
                <a:srgbClr val="000000"/>
              </a:solidFill>
            </a:endParaRPr>
          </a:p>
          <a:p>
            <a:pPr eaLnBrk="1" fontAlgn="auto" hangingPunct="1">
              <a:spcBef>
                <a:spcPts val="0"/>
              </a:spcBef>
              <a:spcAft>
                <a:spcPts val="0"/>
              </a:spcAft>
              <a:defRPr/>
            </a:pPr>
            <a:r>
              <a:rPr lang="en-US" sz="1350" b="1" dirty="0" err="1">
                <a:solidFill>
                  <a:srgbClr val="0070C0"/>
                </a:solidFill>
                <a:latin typeface="Georgia" panose="02040502050405020303"/>
              </a:rPr>
              <a:t>Bekkem</a:t>
            </a:r>
            <a:r>
              <a:rPr lang="en-US" sz="1350" b="1" dirty="0">
                <a:solidFill>
                  <a:srgbClr val="0070C0"/>
                </a:solidFill>
                <a:latin typeface="Georgia" panose="02040502050405020303"/>
              </a:rPr>
              <a:t> Kalyan (23EG110C09)</a:t>
            </a:r>
            <a:endParaRPr lang="en-IN" sz="1350" dirty="0">
              <a:solidFill>
                <a:srgbClr val="000000"/>
              </a:solidFill>
            </a:endParaRPr>
          </a:p>
          <a:p>
            <a:pPr eaLnBrk="1" fontAlgn="auto" hangingPunct="1">
              <a:spcBef>
                <a:spcPts val="0"/>
              </a:spcBef>
              <a:spcAft>
                <a:spcPts val="0"/>
              </a:spcAft>
              <a:defRPr/>
            </a:pPr>
            <a:r>
              <a:rPr lang="en-US" sz="1350" b="1" dirty="0" err="1">
                <a:solidFill>
                  <a:srgbClr val="0070C0"/>
                </a:solidFill>
                <a:latin typeface="Georgia" panose="02040502050405020303"/>
              </a:rPr>
              <a:t>Eramolla</a:t>
            </a:r>
            <a:r>
              <a:rPr lang="en-US" sz="1350" b="1" dirty="0">
                <a:solidFill>
                  <a:srgbClr val="0070C0"/>
                </a:solidFill>
                <a:latin typeface="Georgia" panose="02040502050405020303"/>
              </a:rPr>
              <a:t> Aryan Preetham (23EG110C21)</a:t>
            </a:r>
            <a:endParaRPr lang="en-IN" sz="1350" dirty="0">
              <a:solidFill>
                <a:srgbClr val="000000"/>
              </a:solidFill>
            </a:endParaRPr>
          </a:p>
          <a:p>
            <a:pPr eaLnBrk="1" fontAlgn="auto" hangingPunct="1">
              <a:spcBef>
                <a:spcPts val="0"/>
              </a:spcBef>
              <a:spcAft>
                <a:spcPts val="0"/>
              </a:spcAft>
              <a:defRPr/>
            </a:pPr>
            <a:r>
              <a:rPr lang="en-US" sz="1350" b="1" dirty="0">
                <a:solidFill>
                  <a:srgbClr val="0070C0"/>
                </a:solidFill>
                <a:latin typeface="Georgia" panose="02040502050405020303"/>
              </a:rPr>
              <a:t>Tirumala </a:t>
            </a:r>
            <a:r>
              <a:rPr lang="en-US" sz="1350" b="1" dirty="0" err="1">
                <a:solidFill>
                  <a:srgbClr val="0070C0"/>
                </a:solidFill>
                <a:latin typeface="Georgia" panose="02040502050405020303"/>
              </a:rPr>
              <a:t>Peddinty</a:t>
            </a:r>
            <a:r>
              <a:rPr lang="en-US" sz="1350" b="1" dirty="0">
                <a:solidFill>
                  <a:srgbClr val="0070C0"/>
                </a:solidFill>
                <a:latin typeface="Georgia" panose="02040502050405020303"/>
              </a:rPr>
              <a:t> Vijaya Krishna Sreekar(23EG110C60)</a:t>
            </a:r>
            <a:endParaRPr lang="en-IN" sz="1350" dirty="0">
              <a:solidFill>
                <a:srgbClr val="000000"/>
              </a:solidFill>
            </a:endParaRPr>
          </a:p>
        </p:txBody>
      </p:sp>
      <p:sp>
        <p:nvSpPr>
          <p:cNvPr id="57" name="Google Shape;49;p15">
            <a:extLst>
              <a:ext uri="{FF2B5EF4-FFF2-40B4-BE49-F238E27FC236}">
                <a16:creationId xmlns:a16="http://schemas.microsoft.com/office/drawing/2014/main" id="{3ECD861E-DBC9-84F5-696C-74D9B2BE923D}"/>
              </a:ext>
            </a:extLst>
          </p:cNvPr>
          <p:cNvSpPr/>
          <p:nvPr/>
        </p:nvSpPr>
        <p:spPr>
          <a:xfrm>
            <a:off x="5649913" y="3409950"/>
            <a:ext cx="3529012" cy="1762125"/>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ctr" anchorCtr="1"/>
          <a:lstStyle/>
          <a:p>
            <a:pPr algn="ctr" eaLnBrk="1" fontAlgn="auto" hangingPunct="1">
              <a:spcBef>
                <a:spcPts val="0"/>
              </a:spcBef>
              <a:spcAft>
                <a:spcPts val="0"/>
              </a:spcAft>
              <a:defRPr/>
            </a:pPr>
            <a:r>
              <a:rPr lang="en-US" sz="1350" b="1" dirty="0">
                <a:solidFill>
                  <a:srgbClr val="0070C0"/>
                </a:solidFill>
                <a:latin typeface="Georgia" panose="02040502050405020303"/>
              </a:rPr>
              <a:t>Under the Guidance of</a:t>
            </a:r>
            <a:endParaRPr lang="en-IN" sz="1350" dirty="0">
              <a:solidFill>
                <a:srgbClr val="000000"/>
              </a:solidFill>
            </a:endParaRPr>
          </a:p>
          <a:p>
            <a:pPr algn="ctr" eaLnBrk="1" fontAlgn="auto" hangingPunct="1">
              <a:spcBef>
                <a:spcPts val="0"/>
              </a:spcBef>
              <a:spcAft>
                <a:spcPts val="0"/>
              </a:spcAft>
              <a:defRPr/>
            </a:pPr>
            <a:r>
              <a:rPr lang="nb-NO" sz="1350" b="1" dirty="0">
                <a:solidFill>
                  <a:srgbClr val="0070C0"/>
                </a:solidFill>
                <a:latin typeface="Georgia" panose="02040502050405020303"/>
              </a:rPr>
              <a:t>Dr. V Biksham, Asst.Professor</a:t>
            </a:r>
            <a:endParaRPr lang="en-IN" sz="1350" dirty="0">
              <a:solidFill>
                <a:srgbClr val="000000"/>
              </a:solidFill>
            </a:endParaRPr>
          </a:p>
          <a:p>
            <a:pPr algn="ctr" eaLnBrk="1" fontAlgn="auto" hangingPunct="1">
              <a:spcBef>
                <a:spcPts val="0"/>
              </a:spcBef>
              <a:spcAft>
                <a:spcPts val="0"/>
              </a:spcAft>
              <a:defRPr/>
            </a:pPr>
            <a:r>
              <a:rPr lang="en-US" sz="1350" b="1" dirty="0">
                <a:solidFill>
                  <a:srgbClr val="0070C0"/>
                </a:solidFill>
                <a:latin typeface="Georgia" panose="02040502050405020303"/>
              </a:rPr>
              <a:t>Dept. of Data Science</a:t>
            </a:r>
            <a:endParaRPr lang="en-IN" sz="1350" dirty="0">
              <a:solidFill>
                <a:srgbClr val="000000"/>
              </a:solidFill>
            </a:endParaRPr>
          </a:p>
        </p:txBody>
      </p:sp>
      <p:sp>
        <p:nvSpPr>
          <p:cNvPr id="58" name="Google Shape;49;p15">
            <a:extLst>
              <a:ext uri="{FF2B5EF4-FFF2-40B4-BE49-F238E27FC236}">
                <a16:creationId xmlns:a16="http://schemas.microsoft.com/office/drawing/2014/main" id="{A3A0F18A-EF70-D664-5548-DD8EB78D3F6C}"/>
              </a:ext>
            </a:extLst>
          </p:cNvPr>
          <p:cNvSpPr/>
          <p:nvPr/>
        </p:nvSpPr>
        <p:spPr>
          <a:xfrm>
            <a:off x="1006475" y="1481138"/>
            <a:ext cx="7588250" cy="549275"/>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nchor="ctr"/>
          <a:lstStyle/>
          <a:p>
            <a:pPr algn="ctr" eaLnBrk="1" fontAlgn="auto" hangingPunct="1">
              <a:spcBef>
                <a:spcPts val="1190"/>
              </a:spcBef>
              <a:spcAft>
                <a:spcPts val="990"/>
              </a:spcAft>
              <a:defRPr/>
            </a:pPr>
            <a:r>
              <a:rPr lang="en-US" sz="2100" b="1" dirty="0">
                <a:solidFill>
                  <a:srgbClr val="0070C0"/>
                </a:solidFill>
                <a:latin typeface="Georgia" panose="02040502050405020303"/>
              </a:rPr>
              <a:t>Domain: Business – Data Science Telecom Analytics</a:t>
            </a:r>
            <a:endParaRPr lang="en-IN" sz="21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Google Shape;49;p15">
            <a:extLst>
              <a:ext uri="{FF2B5EF4-FFF2-40B4-BE49-F238E27FC236}">
                <a16:creationId xmlns:a16="http://schemas.microsoft.com/office/drawing/2014/main" id="{F71F3004-D20F-DE93-25AA-A6D780E77C68}"/>
              </a:ext>
            </a:extLst>
          </p:cNvPr>
          <p:cNvSpPr/>
          <p:nvPr/>
        </p:nvSpPr>
        <p:spPr>
          <a:xfrm>
            <a:off x="204788" y="1147763"/>
            <a:ext cx="8453437" cy="1093787"/>
          </a:xfrm>
          <a:prstGeom prst="rect">
            <a:avLst/>
          </a:prstGeom>
          <a:noFill/>
          <a:ln w="0">
            <a:noFill/>
          </a:ln>
        </p:spPr>
        <p:style>
          <a:lnRef idx="0">
            <a:scrgbClr r="0" g="0" b="0"/>
          </a:lnRef>
          <a:fillRef idx="0">
            <a:scrgbClr r="0" g="0" b="0"/>
          </a:fillRef>
          <a:effectRef idx="0">
            <a:scrgbClr r="0" g="0" b="0"/>
          </a:effectRef>
          <a:fontRef idx="minor"/>
        </p:style>
        <p:txBody>
          <a:bodyPr lIns="77760" tIns="38880" rIns="77760" bIns="38880"/>
          <a:lstStyle/>
          <a:p>
            <a:pPr eaLnBrk="1" fontAlgn="auto" hangingPunct="1">
              <a:spcBef>
                <a:spcPts val="0"/>
              </a:spcBef>
              <a:spcAft>
                <a:spcPts val="0"/>
              </a:spcAft>
              <a:defRPr/>
            </a:pPr>
            <a:endParaRPr lang="en-US" sz="3200" b="1">
              <a:solidFill>
                <a:srgbClr val="0070C0"/>
              </a:solidFill>
              <a:latin typeface="Georgia" panose="02040502050405020303"/>
            </a:endParaRPr>
          </a:p>
        </p:txBody>
      </p:sp>
      <p:sp>
        <p:nvSpPr>
          <p:cNvPr id="12291" name="PlaceHolder 1">
            <a:extLst>
              <a:ext uri="{FF2B5EF4-FFF2-40B4-BE49-F238E27FC236}">
                <a16:creationId xmlns:a16="http://schemas.microsoft.com/office/drawing/2014/main" id="{86BDDEE8-F3D0-7B07-F03C-9F2015116F13}"/>
              </a:ext>
            </a:extLst>
          </p:cNvPr>
          <p:cNvSpPr>
            <a:spLocks noGrp="1" noChangeArrowheads="1"/>
          </p:cNvSpPr>
          <p:nvPr>
            <p:ph type="title"/>
          </p:nvPr>
        </p:nvSpPr>
        <p:spPr bwMode="auto">
          <a:xfrm>
            <a:off x="2398713" y="430213"/>
            <a:ext cx="5280025" cy="357187"/>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anchorCtr="0" compatLnSpc="1">
            <a:prstTxWarp prst="textNoShape">
              <a:avLst/>
            </a:prstTxWarp>
          </a:bodyPr>
          <a:lstStyle/>
          <a:p>
            <a:pPr algn="ctr" eaLnBrk="1" hangingPunct="1">
              <a:lnSpc>
                <a:spcPct val="100000"/>
              </a:lnSpc>
            </a:pPr>
            <a:r>
              <a:rPr altLang="en-US" sz="2900" b="1">
                <a:solidFill>
                  <a:srgbClr val="0070C0"/>
                </a:solidFill>
                <a:latin typeface="Georgia" panose="02040502050405020303" pitchFamily="18" charset="0"/>
              </a:rPr>
              <a:t>Abstract</a:t>
            </a:r>
            <a:endParaRPr altLang="en-US" sz="2900">
              <a:latin typeface="Arial" panose="020B0604020202020204" pitchFamily="34" charset="0"/>
            </a:endParaRPr>
          </a:p>
        </p:txBody>
      </p:sp>
      <p:sp>
        <p:nvSpPr>
          <p:cNvPr id="61" name="TextBox 11266">
            <a:extLst>
              <a:ext uri="{FF2B5EF4-FFF2-40B4-BE49-F238E27FC236}">
                <a16:creationId xmlns:a16="http://schemas.microsoft.com/office/drawing/2014/main" id="{C049E911-00B9-680A-5A62-FD47D4D419D8}"/>
              </a:ext>
            </a:extLst>
          </p:cNvPr>
          <p:cNvSpPr/>
          <p:nvPr/>
        </p:nvSpPr>
        <p:spPr>
          <a:xfrm>
            <a:off x="731838" y="1079500"/>
            <a:ext cx="7989887" cy="3041650"/>
          </a:xfrm>
          <a:prstGeom prst="rect">
            <a:avLst/>
          </a:prstGeom>
          <a:noFill/>
          <a:ln w="0">
            <a:noFill/>
          </a:ln>
        </p:spPr>
        <p:style>
          <a:lnRef idx="0">
            <a:scrgbClr r="0" g="0" b="0"/>
          </a:lnRef>
          <a:fillRef idx="0">
            <a:scrgbClr r="0" g="0" b="0"/>
          </a:fillRef>
          <a:effectRef idx="0">
            <a:scrgbClr r="0" g="0" b="0"/>
          </a:effectRef>
          <a:fontRef idx="minor"/>
        </p:style>
        <p:txBody>
          <a:bodyPr lIns="109800" tIns="54720" rIns="109800" bIns="54720">
            <a:spAutoFit/>
          </a:bodyPr>
          <a:lstStyle/>
          <a:p>
            <a:pPr marL="285750" indent="-285750" eaLnBrk="1" fontAlgn="auto" hangingPunct="1">
              <a:lnSpc>
                <a:spcPct val="125000"/>
              </a:lnSpc>
              <a:spcBef>
                <a:spcPts val="0"/>
              </a:spcBef>
              <a:spcAft>
                <a:spcPts val="1600"/>
              </a:spcAft>
              <a:buFont typeface="Arial" panose="020B0604020202020204" pitchFamily="34" charset="0"/>
              <a:buChar char="•"/>
              <a:defRPr sz="1300">
                <a:solidFill>
                  <a:srgbClr val="1E293B"/>
                </a:solidFill>
                <a:latin typeface="Georgia"/>
              </a:defRPr>
            </a:pPr>
            <a:r>
              <a:rPr sz="1300" dirty="0">
                <a:solidFill>
                  <a:srgbClr val="1E293B"/>
                </a:solidFill>
                <a:latin typeface="Georgia"/>
              </a:rPr>
              <a:t>Customer churn is a critical profit driver in telecom, where subscriber acquisition costs up to seven times more than customer retention. Using the benchmark IBM Telco dataset (7,043 subscriber profiles across 21 attributes), this project builds an end-to-end predictive pipeline. By resolving class imbalance through SMOTE and optimizing feature preprocessing, supervised classifiers (led by Random Forest and </a:t>
            </a:r>
            <a:r>
              <a:rPr sz="1300" dirty="0" err="1">
                <a:solidFill>
                  <a:srgbClr val="1E293B"/>
                </a:solidFill>
                <a:latin typeface="Georgia"/>
              </a:rPr>
              <a:t>XGBoost</a:t>
            </a:r>
            <a:r>
              <a:rPr sz="1300" dirty="0">
                <a:solidFill>
                  <a:srgbClr val="1E293B"/>
                </a:solidFill>
                <a:latin typeface="Georgia"/>
              </a:rPr>
              <a:t>) achieve a superior benchmark of 83.62% ROC-AUC and 70.43% churn recall.</a:t>
            </a:r>
          </a:p>
          <a:p>
            <a:pPr marL="285750" indent="-285750" algn="just" eaLnBrk="1" fontAlgn="auto" hangingPunct="1">
              <a:lnSpc>
                <a:spcPct val="125000"/>
              </a:lnSpc>
              <a:spcBef>
                <a:spcPts val="0"/>
              </a:spcBef>
              <a:spcAft>
                <a:spcPts val="0"/>
              </a:spcAft>
              <a:buFont typeface="Arial" panose="020B0604020202020204" pitchFamily="34" charset="0"/>
              <a:buChar char="•"/>
              <a:defRPr sz="1300">
                <a:solidFill>
                  <a:srgbClr val="1E293B"/>
                </a:solidFill>
                <a:latin typeface="Georgia"/>
              </a:defRPr>
            </a:pPr>
            <a:r>
              <a:rPr sz="1300" dirty="0">
                <a:solidFill>
                  <a:srgbClr val="1E293B"/>
                </a:solidFill>
                <a:latin typeface="Georgia"/>
              </a:rPr>
              <a:t>To bridge machine learning with enterprise decision-making, the system integrates a SQLite analytics database executing ten cohort queries to identify high-risk segments and quantify $138,529 in monthly revenue at risk. An interactive </a:t>
            </a:r>
            <a:r>
              <a:rPr sz="1300" dirty="0" err="1">
                <a:solidFill>
                  <a:srgbClr val="1E293B"/>
                </a:solidFill>
                <a:latin typeface="Georgia"/>
              </a:rPr>
              <a:t>Streamlit</a:t>
            </a:r>
            <a:r>
              <a:rPr sz="1300" dirty="0">
                <a:solidFill>
                  <a:srgbClr val="1E293B"/>
                </a:solidFill>
                <a:latin typeface="Georgia"/>
              </a:rPr>
              <a:t> web dashboard delivers sub-50ms real-time churn risk scoring, dynamic factor explainability, and automated executive report generation, empowering retention managers to proactively deploy targeted interventions.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3">
            <a:extLst>
              <a:ext uri="{FF2B5EF4-FFF2-40B4-BE49-F238E27FC236}">
                <a16:creationId xmlns:a16="http://schemas.microsoft.com/office/drawing/2014/main" id="{24616382-A1CF-20D0-678D-BE36DD72BC2C}"/>
              </a:ext>
            </a:extLst>
          </p:cNvPr>
          <p:cNvSpPr txBox="1">
            <a:spLocks noChangeArrowheads="1"/>
          </p:cNvSpPr>
          <p:nvPr/>
        </p:nvSpPr>
        <p:spPr bwMode="auto">
          <a:xfrm>
            <a:off x="747713" y="457200"/>
            <a:ext cx="80454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0B3B60"/>
                </a:solidFill>
                <a:latin typeface="Georgia" panose="02040502050405020303" pitchFamily="18" charset="0"/>
              </a:rPr>
              <a:t>Introduction</a:t>
            </a:r>
          </a:p>
        </p:txBody>
      </p:sp>
      <p:sp>
        <p:nvSpPr>
          <p:cNvPr id="14339" name="TextBox 4">
            <a:extLst>
              <a:ext uri="{FF2B5EF4-FFF2-40B4-BE49-F238E27FC236}">
                <a16:creationId xmlns:a16="http://schemas.microsoft.com/office/drawing/2014/main" id="{0507B981-A9B0-BD86-FD5B-41F53C913AF5}"/>
              </a:ext>
            </a:extLst>
          </p:cNvPr>
          <p:cNvSpPr txBox="1">
            <a:spLocks noChangeArrowheads="1"/>
          </p:cNvSpPr>
          <p:nvPr/>
        </p:nvSpPr>
        <p:spPr bwMode="auto">
          <a:xfrm>
            <a:off x="822325" y="1096963"/>
            <a:ext cx="8047038" cy="284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600"/>
              </a:spcAft>
            </a:pPr>
            <a:r>
              <a:rPr lang="en-US" altLang="en-US" sz="1500" b="1">
                <a:solidFill>
                  <a:srgbClr val="C8102E"/>
                </a:solidFill>
              </a:rPr>
              <a:t>Problem Context &amp; Industry Challenge</a:t>
            </a:r>
          </a:p>
          <a:p>
            <a:pPr eaLnBrk="1" hangingPunct="1">
              <a:spcAft>
                <a:spcPts val="400"/>
              </a:spcAft>
            </a:pPr>
            <a:r>
              <a:rPr lang="en-US" altLang="en-US" sz="1300">
                <a:solidFill>
                  <a:srgbClr val="1E293B"/>
                </a:solidFill>
              </a:rPr>
              <a:t>• Telecom service providers experience heavy revenue loss due to customer contract cancellations (churn).</a:t>
            </a:r>
          </a:p>
          <a:p>
            <a:pPr eaLnBrk="1" hangingPunct="1">
              <a:spcAft>
                <a:spcPts val="400"/>
              </a:spcAft>
            </a:pPr>
            <a:r>
              <a:rPr lang="en-US" altLang="en-US" sz="1300">
                <a:solidFill>
                  <a:srgbClr val="1E293B"/>
                </a:solidFill>
              </a:rPr>
              <a:t>• Manual identification of at-risk customers is ineffective due to complex, multi-dimensional customer behavioral patterns.</a:t>
            </a:r>
          </a:p>
          <a:p>
            <a:pPr eaLnBrk="1" hangingPunct="1">
              <a:spcAft>
                <a:spcPts val="400"/>
              </a:spcAft>
            </a:pPr>
            <a:r>
              <a:rPr lang="en-US" altLang="en-US" sz="1300">
                <a:solidFill>
                  <a:srgbClr val="1E293B"/>
                </a:solidFill>
              </a:rPr>
              <a:t>• Unaddressed churn results in high acquisition overheads, reduced customer lifetime value (CLV), and diminished market share.</a:t>
            </a:r>
          </a:p>
          <a:p>
            <a:pPr eaLnBrk="1" hangingPunct="1">
              <a:spcBef>
                <a:spcPts val="1000"/>
              </a:spcBef>
              <a:spcAft>
                <a:spcPts val="600"/>
              </a:spcAft>
            </a:pPr>
            <a:r>
              <a:rPr lang="en-US" altLang="en-US" sz="1500" b="1">
                <a:solidFill>
                  <a:srgbClr val="FF0000"/>
                </a:solidFill>
              </a:rPr>
              <a:t>Proposed Solution &amp; Data Flow</a:t>
            </a:r>
          </a:p>
          <a:p>
            <a:pPr eaLnBrk="1" hangingPunct="1">
              <a:spcAft>
                <a:spcPts val="400"/>
              </a:spcAft>
            </a:pPr>
            <a:r>
              <a:rPr lang="en-US" altLang="en-US" sz="1300">
                <a:solidFill>
                  <a:srgbClr val="1E293B"/>
                </a:solidFill>
              </a:rPr>
              <a:t>• Data Ingestion → Clean &amp; Preprocess → Feature Engineering (SMOTE) → Multi-Model ML Training → SQL Analytics → Streamlit UI.</a:t>
            </a:r>
          </a:p>
          <a:p>
            <a:pPr eaLnBrk="1" hangingPunct="1">
              <a:spcAft>
                <a:spcPts val="400"/>
              </a:spcAft>
            </a:pPr>
            <a:r>
              <a:rPr lang="en-US" altLang="en-US" sz="1300">
                <a:solidFill>
                  <a:srgbClr val="1E293B"/>
                </a:solidFill>
              </a:rPr>
              <a:t>• Enables telecom managers to proactively intervene with targeted discounts, tenure perks, and service upgrades before churn occurs.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3">
            <a:extLst>
              <a:ext uri="{FF2B5EF4-FFF2-40B4-BE49-F238E27FC236}">
                <a16:creationId xmlns:a16="http://schemas.microsoft.com/office/drawing/2014/main" id="{D9E6DACD-258C-5A0B-45DB-026A28848284}"/>
              </a:ext>
            </a:extLst>
          </p:cNvPr>
          <p:cNvSpPr txBox="1">
            <a:spLocks noChangeArrowheads="1"/>
          </p:cNvSpPr>
          <p:nvPr/>
        </p:nvSpPr>
        <p:spPr bwMode="auto">
          <a:xfrm>
            <a:off x="630238" y="668338"/>
            <a:ext cx="8047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FF0000"/>
                </a:solidFill>
                <a:latin typeface="Georgia" panose="02040502050405020303" pitchFamily="18" charset="0"/>
              </a:rPr>
              <a:t>Objectives</a:t>
            </a:r>
          </a:p>
        </p:txBody>
      </p:sp>
      <p:sp>
        <p:nvSpPr>
          <p:cNvPr id="5" name="TextBox 4">
            <a:extLst>
              <a:ext uri="{FF2B5EF4-FFF2-40B4-BE49-F238E27FC236}">
                <a16:creationId xmlns:a16="http://schemas.microsoft.com/office/drawing/2014/main" id="{4F5A67F3-BFB2-2FDD-253E-2FBB5E1A8FB8}"/>
              </a:ext>
            </a:extLst>
          </p:cNvPr>
          <p:cNvSpPr txBox="1"/>
          <p:nvPr/>
        </p:nvSpPr>
        <p:spPr>
          <a:xfrm>
            <a:off x="822325" y="1189038"/>
            <a:ext cx="8047038" cy="3475037"/>
          </a:xfrm>
          <a:prstGeom prst="rect">
            <a:avLst/>
          </a:prstGeom>
          <a:noFill/>
        </p:spPr>
        <p:txBody>
          <a:bodyPr>
            <a:spAutoFit/>
          </a:bodyPr>
          <a:lstStyle/>
          <a:p>
            <a:pPr eaLnBrk="1" fontAlgn="auto" hangingPunct="1">
              <a:spcBef>
                <a:spcPts val="0"/>
              </a:spcBef>
              <a:spcAft>
                <a:spcPts val="1200"/>
              </a:spcAft>
              <a:defRPr sz="1350">
                <a:solidFill>
                  <a:srgbClr val="1E293B"/>
                </a:solidFill>
              </a:defRPr>
            </a:pPr>
            <a:r>
              <a:rPr sz="1350">
                <a:solidFill>
                  <a:srgbClr val="1E293B"/>
                </a:solidFill>
                <a:latin typeface="+mn-lt"/>
              </a:rPr>
              <a:t>1. End-to-End Data Pipeline &amp; Feature Engineering: Ingest, clean, and preprocess the IBM Telco Churn dataset, engineering composite risk metrics and applying SMOTE to address class imbalance.</a:t>
            </a:r>
          </a:p>
          <a:p>
            <a:pPr eaLnBrk="1" fontAlgn="auto" hangingPunct="1">
              <a:spcBef>
                <a:spcPts val="0"/>
              </a:spcBef>
              <a:spcAft>
                <a:spcPts val="1200"/>
              </a:spcAft>
              <a:defRPr sz="1350">
                <a:solidFill>
                  <a:srgbClr val="1E293B"/>
                </a:solidFill>
              </a:defRPr>
            </a:pPr>
            <a:r>
              <a:rPr sz="1350">
                <a:solidFill>
                  <a:srgbClr val="1E293B"/>
                </a:solidFill>
                <a:latin typeface="+mn-lt"/>
              </a:rPr>
              <a:t>2. Predictive Model Optimization: Train and validate Machine Learning classifiers (Random Forest, XGBoost, Logistic Regression) to accurately identify churn patterns with high ROC-AUC and Recall.</a:t>
            </a:r>
          </a:p>
          <a:p>
            <a:pPr eaLnBrk="1" fontAlgn="auto" hangingPunct="1">
              <a:spcBef>
                <a:spcPts val="0"/>
              </a:spcBef>
              <a:spcAft>
                <a:spcPts val="1200"/>
              </a:spcAft>
              <a:defRPr sz="1350">
                <a:solidFill>
                  <a:srgbClr val="1E293B"/>
                </a:solidFill>
              </a:defRPr>
            </a:pPr>
            <a:r>
              <a:rPr sz="1350">
                <a:solidFill>
                  <a:srgbClr val="1E293B"/>
                </a:solidFill>
                <a:latin typeface="+mn-lt"/>
              </a:rPr>
              <a:t>3. Financial &amp; Cohort Analytics Engine: Build a robust SQL-powered analytics database to calculate monthly revenue at risk and isolate high-churn customer segments.</a:t>
            </a:r>
          </a:p>
          <a:p>
            <a:pPr eaLnBrk="1" fontAlgn="auto" hangingPunct="1">
              <a:spcBef>
                <a:spcPts val="0"/>
              </a:spcBef>
              <a:spcAft>
                <a:spcPts val="1200"/>
              </a:spcAft>
              <a:defRPr sz="1350">
                <a:solidFill>
                  <a:srgbClr val="1E293B"/>
                </a:solidFill>
              </a:defRPr>
            </a:pPr>
            <a:r>
              <a:rPr sz="1350">
                <a:solidFill>
                  <a:srgbClr val="1E293B"/>
                </a:solidFill>
                <a:latin typeface="+mn-lt"/>
              </a:rPr>
              <a:t>4. Interactive Decision Support Dashboard: Deploy a real-time Streamlit web dashboard for instant single/batch churn prediction and executive reporting.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3">
            <a:extLst>
              <a:ext uri="{FF2B5EF4-FFF2-40B4-BE49-F238E27FC236}">
                <a16:creationId xmlns:a16="http://schemas.microsoft.com/office/drawing/2014/main" id="{281942AD-7353-79C3-3471-CEFE435364E7}"/>
              </a:ext>
            </a:extLst>
          </p:cNvPr>
          <p:cNvSpPr txBox="1">
            <a:spLocks noChangeArrowheads="1"/>
          </p:cNvSpPr>
          <p:nvPr/>
        </p:nvSpPr>
        <p:spPr bwMode="auto">
          <a:xfrm>
            <a:off x="566738" y="511175"/>
            <a:ext cx="80470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0B3B60"/>
                </a:solidFill>
                <a:latin typeface="Georgia" panose="02040502050405020303" pitchFamily="18" charset="0"/>
              </a:rPr>
              <a:t>Literature Survey</a:t>
            </a:r>
          </a:p>
        </p:txBody>
      </p:sp>
      <p:graphicFrame>
        <p:nvGraphicFramePr>
          <p:cNvPr id="5" name="Table 4">
            <a:extLst>
              <a:ext uri="{FF2B5EF4-FFF2-40B4-BE49-F238E27FC236}">
                <a16:creationId xmlns:a16="http://schemas.microsoft.com/office/drawing/2014/main" id="{954C8334-A8E9-AB37-D2CF-5042968B5292}"/>
              </a:ext>
            </a:extLst>
          </p:cNvPr>
          <p:cNvGraphicFramePr>
            <a:graphicFrameLocks noGrp="1"/>
          </p:cNvGraphicFramePr>
          <p:nvPr/>
        </p:nvGraphicFramePr>
        <p:xfrm>
          <a:off x="457200" y="1096963"/>
          <a:ext cx="8686800" cy="350520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96596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579120">
                <a:tc>
                  <a:txBody>
                    <a:bodyPr/>
                    <a:lstStyle/>
                    <a:p>
                      <a:pPr algn="ctr">
                        <a:defRPr sz="950" b="1">
                          <a:solidFill>
                            <a:srgbClr val="FFFFFF"/>
                          </a:solidFill>
                          <a:latin typeface="Georgia"/>
                        </a:defRPr>
                      </a:pPr>
                      <a:r>
                        <a:t>S.No</a:t>
                      </a:r>
                    </a:p>
                  </a:txBody>
                  <a:tcPr>
                    <a:solidFill>
                      <a:srgbClr val="1E3A8A"/>
                    </a:solidFill>
                  </a:tcPr>
                </a:tc>
                <a:tc>
                  <a:txBody>
                    <a:bodyPr/>
                    <a:lstStyle/>
                    <a:p>
                      <a:pPr algn="ctr">
                        <a:defRPr sz="950" b="1">
                          <a:solidFill>
                            <a:srgbClr val="FFFFFF"/>
                          </a:solidFill>
                          <a:latin typeface="Georgia"/>
                        </a:defRPr>
                      </a:pPr>
                      <a:r>
                        <a:rPr dirty="0"/>
                        <a:t>Paper Title &amp; Published Year</a:t>
                      </a:r>
                    </a:p>
                  </a:txBody>
                  <a:tcPr>
                    <a:solidFill>
                      <a:srgbClr val="1E3A8A"/>
                    </a:solidFill>
                  </a:tcPr>
                </a:tc>
                <a:tc>
                  <a:txBody>
                    <a:bodyPr/>
                    <a:lstStyle/>
                    <a:p>
                      <a:pPr algn="ctr">
                        <a:defRPr sz="950" b="1">
                          <a:solidFill>
                            <a:srgbClr val="FFFFFF"/>
                          </a:solidFill>
                          <a:latin typeface="Georgia"/>
                        </a:defRPr>
                      </a:pPr>
                      <a:r>
                        <a:t>Author(s)</a:t>
                      </a:r>
                    </a:p>
                  </a:txBody>
                  <a:tcPr>
                    <a:solidFill>
                      <a:srgbClr val="1E3A8A"/>
                    </a:solidFill>
                  </a:tcPr>
                </a:tc>
                <a:tc>
                  <a:txBody>
                    <a:bodyPr/>
                    <a:lstStyle/>
                    <a:p>
                      <a:pPr algn="ctr">
                        <a:defRPr sz="950" b="1">
                          <a:solidFill>
                            <a:srgbClr val="FFFFFF"/>
                          </a:solidFill>
                          <a:latin typeface="Georgia"/>
                        </a:defRPr>
                      </a:pPr>
                      <a:r>
                        <a:rPr dirty="0"/>
                        <a:t>Methodology &amp; Model Used</a:t>
                      </a:r>
                    </a:p>
                  </a:txBody>
                  <a:tcPr>
                    <a:solidFill>
                      <a:srgbClr val="1E3A8A"/>
                    </a:solidFill>
                  </a:tcPr>
                </a:tc>
                <a:tc>
                  <a:txBody>
                    <a:bodyPr/>
                    <a:lstStyle/>
                    <a:p>
                      <a:pPr algn="ctr">
                        <a:defRPr sz="950" b="1">
                          <a:solidFill>
                            <a:srgbClr val="FFFFFF"/>
                          </a:solidFill>
                          <a:latin typeface="Georgia"/>
                        </a:defRPr>
                      </a:pPr>
                      <a:r>
                        <a:t>Drawbacks / Limitations</a:t>
                      </a:r>
                    </a:p>
                  </a:txBody>
                  <a:tcPr>
                    <a:solidFill>
                      <a:srgbClr val="1E3A8A"/>
                    </a:solidFill>
                  </a:tcPr>
                </a:tc>
                <a:tc>
                  <a:txBody>
                    <a:bodyPr/>
                    <a:lstStyle/>
                    <a:p>
                      <a:pPr algn="ctr">
                        <a:defRPr sz="950" b="1">
                          <a:solidFill>
                            <a:srgbClr val="FFFFFF"/>
                          </a:solidFill>
                          <a:latin typeface="Georgia"/>
                        </a:defRPr>
                      </a:pPr>
                      <a:r>
                        <a:t>Source</a:t>
                      </a:r>
                    </a:p>
                  </a:txBody>
                  <a:tcPr>
                    <a:solidFill>
                      <a:srgbClr val="1E3A8A"/>
                    </a:solidFill>
                  </a:tcPr>
                </a:tc>
                <a:extLst>
                  <a:ext uri="{0D108BD9-81ED-4DB2-BD59-A6C34878D82A}">
                    <a16:rowId xmlns:a16="http://schemas.microsoft.com/office/drawing/2014/main" val="10000"/>
                  </a:ext>
                </a:extLst>
              </a:tr>
              <a:tr h="579120">
                <a:tc>
                  <a:txBody>
                    <a:bodyPr/>
                    <a:lstStyle/>
                    <a:p>
                      <a:pPr algn="ctr">
                        <a:defRPr sz="850" b="1">
                          <a:solidFill>
                            <a:srgbClr val="1E293B"/>
                          </a:solidFill>
                          <a:latin typeface="Georgia"/>
                        </a:defRPr>
                      </a:pPr>
                      <a:r>
                        <a:t>1</a:t>
                      </a:r>
                    </a:p>
                  </a:txBody>
                  <a:tcPr>
                    <a:solidFill>
                      <a:srgbClr val="F8FAFC"/>
                    </a:solidFill>
                  </a:tcPr>
                </a:tc>
                <a:tc>
                  <a:txBody>
                    <a:bodyPr/>
                    <a:lstStyle/>
                    <a:p>
                      <a:pPr algn="l">
                        <a:defRPr sz="850">
                          <a:solidFill>
                            <a:srgbClr val="1E293B"/>
                          </a:solidFill>
                          <a:latin typeface="Georgia"/>
                        </a:defRPr>
                      </a:pPr>
                      <a:r>
                        <a:t>A Customer Churn Prediction Model in Telecom Industry Using Boosting</a:t>
                      </a:r>
                    </a:p>
                    <a:p>
                      <a:pPr algn="l">
                        <a:defRPr sz="850">
                          <a:solidFill>
                            <a:srgbClr val="1E293B"/>
                          </a:solidFill>
                          <a:latin typeface="Georgia"/>
                        </a:defRPr>
                      </a:pPr>
                      <a:r>
                        <a:t>(2014)</a:t>
                      </a:r>
                    </a:p>
                  </a:txBody>
                  <a:tcPr>
                    <a:solidFill>
                      <a:srgbClr val="F8FAFC"/>
                    </a:solidFill>
                  </a:tcPr>
                </a:tc>
                <a:tc>
                  <a:txBody>
                    <a:bodyPr/>
                    <a:lstStyle/>
                    <a:p>
                      <a:pPr algn="l">
                        <a:defRPr sz="850">
                          <a:solidFill>
                            <a:srgbClr val="1E293B"/>
                          </a:solidFill>
                          <a:latin typeface="Georgia"/>
                        </a:defRPr>
                      </a:pPr>
                      <a:r>
                        <a:rPr dirty="0"/>
                        <a:t>Ning Lu </a:t>
                      </a:r>
                    </a:p>
                  </a:txBody>
                  <a:tcPr>
                    <a:solidFill>
                      <a:srgbClr val="F8FAFC"/>
                    </a:solidFill>
                  </a:tcPr>
                </a:tc>
                <a:tc>
                  <a:txBody>
                    <a:bodyPr/>
                    <a:lstStyle/>
                    <a:p>
                      <a:pPr algn="l">
                        <a:defRPr sz="850">
                          <a:solidFill>
                            <a:srgbClr val="1E293B"/>
                          </a:solidFill>
                          <a:latin typeface="Georgia"/>
                        </a:defRPr>
                      </a:pPr>
                      <a:r>
                        <a:t>Boosting Algorithm integrated with Customer Demographic &amp; Usage Segmentation</a:t>
                      </a:r>
                    </a:p>
                  </a:txBody>
                  <a:tcPr>
                    <a:solidFill>
                      <a:srgbClr val="F8FAFC"/>
                    </a:solidFill>
                  </a:tcPr>
                </a:tc>
                <a:tc>
                  <a:txBody>
                    <a:bodyPr/>
                    <a:lstStyle/>
                    <a:p>
                      <a:pPr algn="l">
                        <a:defRPr sz="850">
                          <a:solidFill>
                            <a:srgbClr val="1E293B"/>
                          </a:solidFill>
                          <a:latin typeface="Georgia"/>
                        </a:defRPr>
                      </a:pPr>
                      <a:r>
                        <a:t>High computational training cost; lacks real-time interactive UI</a:t>
                      </a:r>
                    </a:p>
                  </a:txBody>
                  <a:tcPr>
                    <a:solidFill>
                      <a:srgbClr val="F8FAFC"/>
                    </a:solidFill>
                  </a:tcPr>
                </a:tc>
                <a:tc>
                  <a:txBody>
                    <a:bodyPr/>
                    <a:lstStyle/>
                    <a:p>
                      <a:pPr algn="l">
                        <a:defRPr sz="850">
                          <a:solidFill>
                            <a:srgbClr val="1E293B"/>
                          </a:solidFill>
                          <a:latin typeface="Georgia"/>
                        </a:defRPr>
                      </a:pPr>
                      <a:r>
                        <a:t>IEEE Trans. Ind. Informatics</a:t>
                      </a:r>
                    </a:p>
                  </a:txBody>
                  <a:tcPr>
                    <a:solidFill>
                      <a:srgbClr val="F8FAFC"/>
                    </a:solidFill>
                  </a:tcPr>
                </a:tc>
                <a:extLst>
                  <a:ext uri="{0D108BD9-81ED-4DB2-BD59-A6C34878D82A}">
                    <a16:rowId xmlns:a16="http://schemas.microsoft.com/office/drawing/2014/main" val="10001"/>
                  </a:ext>
                </a:extLst>
              </a:tr>
              <a:tr h="579120">
                <a:tc>
                  <a:txBody>
                    <a:bodyPr/>
                    <a:lstStyle/>
                    <a:p>
                      <a:pPr algn="ctr">
                        <a:defRPr sz="850" b="1">
                          <a:solidFill>
                            <a:srgbClr val="1E293B"/>
                          </a:solidFill>
                          <a:latin typeface="Georgia"/>
                        </a:defRPr>
                      </a:pPr>
                      <a:r>
                        <a:t>2</a:t>
                      </a:r>
                    </a:p>
                  </a:txBody>
                  <a:tcPr>
                    <a:solidFill>
                      <a:srgbClr val="EDF2F7"/>
                    </a:solidFill>
                  </a:tcPr>
                </a:tc>
                <a:tc>
                  <a:txBody>
                    <a:bodyPr/>
                    <a:lstStyle/>
                    <a:p>
                      <a:pPr algn="l">
                        <a:defRPr sz="850">
                          <a:solidFill>
                            <a:srgbClr val="1E293B"/>
                          </a:solidFill>
                          <a:latin typeface="Georgia"/>
                        </a:defRPr>
                      </a:pPr>
                      <a:r>
                        <a:t>Customer Churn Prediction in Telecom Using ML in Big Data Platform</a:t>
                      </a:r>
                    </a:p>
                    <a:p>
                      <a:pPr algn="l">
                        <a:defRPr sz="850">
                          <a:solidFill>
                            <a:srgbClr val="1E293B"/>
                          </a:solidFill>
                          <a:latin typeface="Georgia"/>
                        </a:defRPr>
                      </a:pPr>
                      <a:r>
                        <a:t>(2019)</a:t>
                      </a:r>
                    </a:p>
                  </a:txBody>
                  <a:tcPr>
                    <a:solidFill>
                      <a:srgbClr val="EDF2F7"/>
                    </a:solidFill>
                  </a:tcPr>
                </a:tc>
                <a:tc>
                  <a:txBody>
                    <a:bodyPr/>
                    <a:lstStyle/>
                    <a:p>
                      <a:pPr algn="l">
                        <a:defRPr sz="850">
                          <a:solidFill>
                            <a:srgbClr val="1E293B"/>
                          </a:solidFill>
                          <a:latin typeface="Georgia"/>
                        </a:defRPr>
                      </a:pPr>
                      <a:r>
                        <a:rPr dirty="0"/>
                        <a:t>A. K. Ahmad </a:t>
                      </a:r>
                    </a:p>
                  </a:txBody>
                  <a:tcPr>
                    <a:solidFill>
                      <a:srgbClr val="EDF2F7"/>
                    </a:solidFill>
                  </a:tcPr>
                </a:tc>
                <a:tc>
                  <a:txBody>
                    <a:bodyPr/>
                    <a:lstStyle/>
                    <a:p>
                      <a:pPr algn="l">
                        <a:defRPr sz="850">
                          <a:solidFill>
                            <a:srgbClr val="1E293B"/>
                          </a:solidFill>
                          <a:latin typeface="Georgia"/>
                        </a:defRPr>
                      </a:pPr>
                      <a:r>
                        <a:t>Decision Trees, Random Forest &amp; XGBoost with Social Network Analysis</a:t>
                      </a:r>
                    </a:p>
                  </a:txBody>
                  <a:tcPr>
                    <a:solidFill>
                      <a:srgbClr val="EDF2F7"/>
                    </a:solidFill>
                  </a:tcPr>
                </a:tc>
                <a:tc>
                  <a:txBody>
                    <a:bodyPr/>
                    <a:lstStyle/>
                    <a:p>
                      <a:pPr algn="l">
                        <a:defRPr sz="850">
                          <a:solidFill>
                            <a:srgbClr val="1E293B"/>
                          </a:solidFill>
                          <a:latin typeface="Georgia"/>
                        </a:defRPr>
                      </a:pPr>
                      <a:r>
                        <a:t>Heavy infrastructure overhead; complex big data pipelines required</a:t>
                      </a:r>
                    </a:p>
                  </a:txBody>
                  <a:tcPr>
                    <a:solidFill>
                      <a:srgbClr val="EDF2F7"/>
                    </a:solidFill>
                  </a:tcPr>
                </a:tc>
                <a:tc>
                  <a:txBody>
                    <a:bodyPr/>
                    <a:lstStyle/>
                    <a:p>
                      <a:pPr algn="l">
                        <a:defRPr sz="850">
                          <a:solidFill>
                            <a:srgbClr val="1E293B"/>
                          </a:solidFill>
                          <a:latin typeface="Georgia"/>
                        </a:defRPr>
                      </a:pPr>
                      <a:r>
                        <a:t>Journal of Big Data (Springer)</a:t>
                      </a:r>
                    </a:p>
                  </a:txBody>
                  <a:tcPr>
                    <a:solidFill>
                      <a:srgbClr val="EDF2F7"/>
                    </a:solidFill>
                  </a:tcPr>
                </a:tc>
                <a:extLst>
                  <a:ext uri="{0D108BD9-81ED-4DB2-BD59-A6C34878D82A}">
                    <a16:rowId xmlns:a16="http://schemas.microsoft.com/office/drawing/2014/main" val="10002"/>
                  </a:ext>
                </a:extLst>
              </a:tr>
              <a:tr h="579120">
                <a:tc>
                  <a:txBody>
                    <a:bodyPr/>
                    <a:lstStyle/>
                    <a:p>
                      <a:pPr algn="ctr">
                        <a:defRPr sz="850" b="1">
                          <a:solidFill>
                            <a:srgbClr val="1E293B"/>
                          </a:solidFill>
                          <a:latin typeface="Georgia"/>
                        </a:defRPr>
                      </a:pPr>
                      <a:r>
                        <a:t>3</a:t>
                      </a:r>
                    </a:p>
                  </a:txBody>
                  <a:tcPr>
                    <a:solidFill>
                      <a:srgbClr val="F8FAFC"/>
                    </a:solidFill>
                  </a:tcPr>
                </a:tc>
                <a:tc>
                  <a:txBody>
                    <a:bodyPr/>
                    <a:lstStyle/>
                    <a:p>
                      <a:pPr algn="l">
                        <a:defRPr sz="850">
                          <a:solidFill>
                            <a:srgbClr val="1E293B"/>
                          </a:solidFill>
                          <a:latin typeface="Georgia"/>
                        </a:defRPr>
                      </a:pPr>
                      <a:r>
                        <a:t>Predicting Customer Churn in Telecom Using Surrogate Profiling</a:t>
                      </a:r>
                    </a:p>
                    <a:p>
                      <a:pPr algn="l">
                        <a:defRPr sz="850">
                          <a:solidFill>
                            <a:srgbClr val="1E293B"/>
                          </a:solidFill>
                          <a:latin typeface="Georgia"/>
                        </a:defRPr>
                      </a:pPr>
                      <a:r>
                        <a:t>(2019)</a:t>
                      </a:r>
                    </a:p>
                  </a:txBody>
                  <a:tcPr>
                    <a:solidFill>
                      <a:srgbClr val="F8FAFC"/>
                    </a:solidFill>
                  </a:tcPr>
                </a:tc>
                <a:tc>
                  <a:txBody>
                    <a:bodyPr/>
                    <a:lstStyle/>
                    <a:p>
                      <a:pPr algn="l">
                        <a:defRPr sz="850">
                          <a:solidFill>
                            <a:srgbClr val="1E293B"/>
                          </a:solidFill>
                          <a:latin typeface="Georgia"/>
                        </a:defRPr>
                      </a:pPr>
                      <a:r>
                        <a:rPr dirty="0"/>
                        <a:t>Irfan Ullah </a:t>
                      </a:r>
                    </a:p>
                  </a:txBody>
                  <a:tcPr>
                    <a:solidFill>
                      <a:srgbClr val="F8FAFC"/>
                    </a:solidFill>
                  </a:tcPr>
                </a:tc>
                <a:tc>
                  <a:txBody>
                    <a:bodyPr/>
                    <a:lstStyle/>
                    <a:p>
                      <a:pPr algn="l">
                        <a:defRPr sz="850">
                          <a:solidFill>
                            <a:srgbClr val="1E293B"/>
                          </a:solidFill>
                          <a:latin typeface="Georgia"/>
                        </a:defRPr>
                      </a:pPr>
                      <a:r>
                        <a:t>Random Forest Classification coupled with K-Means Customer Clustering</a:t>
                      </a:r>
                    </a:p>
                  </a:txBody>
                  <a:tcPr>
                    <a:solidFill>
                      <a:srgbClr val="F8FAFC"/>
                    </a:solidFill>
                  </a:tcPr>
                </a:tc>
                <a:tc>
                  <a:txBody>
                    <a:bodyPr/>
                    <a:lstStyle/>
                    <a:p>
                      <a:pPr algn="l">
                        <a:defRPr sz="850">
                          <a:solidFill>
                            <a:srgbClr val="1E293B"/>
                          </a:solidFill>
                          <a:latin typeface="Georgia"/>
                        </a:defRPr>
                      </a:pPr>
                      <a:r>
                        <a:t>Multi-stage pipeline complexity; lacks integrated SQL cohort revenue engine</a:t>
                      </a:r>
                    </a:p>
                  </a:txBody>
                  <a:tcPr>
                    <a:solidFill>
                      <a:srgbClr val="F8FAFC"/>
                    </a:solidFill>
                  </a:tcPr>
                </a:tc>
                <a:tc>
                  <a:txBody>
                    <a:bodyPr/>
                    <a:lstStyle/>
                    <a:p>
                      <a:pPr algn="l">
                        <a:defRPr sz="850">
                          <a:solidFill>
                            <a:srgbClr val="1E293B"/>
                          </a:solidFill>
                          <a:latin typeface="Georgia"/>
                        </a:defRPr>
                      </a:pPr>
                      <a:r>
                        <a:t>IEEE Access</a:t>
                      </a:r>
                    </a:p>
                  </a:txBody>
                  <a:tcPr>
                    <a:solidFill>
                      <a:srgbClr val="F8FAFC"/>
                    </a:solidFill>
                  </a:tcPr>
                </a:tc>
                <a:extLst>
                  <a:ext uri="{0D108BD9-81ED-4DB2-BD59-A6C34878D82A}">
                    <a16:rowId xmlns:a16="http://schemas.microsoft.com/office/drawing/2014/main" val="10003"/>
                  </a:ext>
                </a:extLst>
              </a:tr>
              <a:tr h="579120">
                <a:tc>
                  <a:txBody>
                    <a:bodyPr/>
                    <a:lstStyle/>
                    <a:p>
                      <a:pPr algn="ctr">
                        <a:defRPr sz="850" b="1">
                          <a:solidFill>
                            <a:srgbClr val="1E293B"/>
                          </a:solidFill>
                          <a:latin typeface="Georgia"/>
                        </a:defRPr>
                      </a:pPr>
                      <a:r>
                        <a:t>4</a:t>
                      </a:r>
                    </a:p>
                  </a:txBody>
                  <a:tcPr>
                    <a:solidFill>
                      <a:srgbClr val="EDF2F7"/>
                    </a:solidFill>
                  </a:tcPr>
                </a:tc>
                <a:tc>
                  <a:txBody>
                    <a:bodyPr/>
                    <a:lstStyle/>
                    <a:p>
                      <a:pPr algn="l">
                        <a:defRPr sz="850">
                          <a:solidFill>
                            <a:srgbClr val="1E293B"/>
                          </a:solidFill>
                          <a:latin typeface="Georgia"/>
                        </a:defRPr>
                      </a:pPr>
                      <a:r>
                        <a:t>Hybrid ML Framework for Customer Churn Prediction in Telecom</a:t>
                      </a:r>
                    </a:p>
                    <a:p>
                      <a:pPr algn="l">
                        <a:defRPr sz="850">
                          <a:solidFill>
                            <a:srgbClr val="1E293B"/>
                          </a:solidFill>
                          <a:latin typeface="Georgia"/>
                        </a:defRPr>
                      </a:pPr>
                      <a:r>
                        <a:t>(2024)</a:t>
                      </a:r>
                    </a:p>
                  </a:txBody>
                  <a:tcPr>
                    <a:solidFill>
                      <a:srgbClr val="EDF2F7"/>
                    </a:solidFill>
                  </a:tcPr>
                </a:tc>
                <a:tc>
                  <a:txBody>
                    <a:bodyPr/>
                    <a:lstStyle/>
                    <a:p>
                      <a:pPr algn="l">
                        <a:defRPr sz="850">
                          <a:solidFill>
                            <a:srgbClr val="1E293B"/>
                          </a:solidFill>
                          <a:latin typeface="Georgia"/>
                        </a:defRPr>
                      </a:pPr>
                      <a:r>
                        <a:rPr dirty="0"/>
                        <a:t>Shimaa </a:t>
                      </a:r>
                      <a:r>
                        <a:rPr dirty="0" err="1"/>
                        <a:t>Ouf</a:t>
                      </a:r>
                      <a:r>
                        <a:rPr dirty="0"/>
                        <a:t> </a:t>
                      </a:r>
                    </a:p>
                  </a:txBody>
                  <a:tcPr>
                    <a:solidFill>
                      <a:srgbClr val="EDF2F7"/>
                    </a:solidFill>
                  </a:tcPr>
                </a:tc>
                <a:tc>
                  <a:txBody>
                    <a:bodyPr/>
                    <a:lstStyle/>
                    <a:p>
                      <a:pPr algn="l">
                        <a:defRPr sz="850">
                          <a:solidFill>
                            <a:srgbClr val="1E293B"/>
                          </a:solidFill>
                          <a:latin typeface="Georgia"/>
                        </a:defRPr>
                      </a:pPr>
                      <a:r>
                        <a:t>Hybrid Ensemble Stacking Classifiers with Multi-Feature Extraction</a:t>
                      </a:r>
                    </a:p>
                  </a:txBody>
                  <a:tcPr>
                    <a:solidFill>
                      <a:srgbClr val="EDF2F7"/>
                    </a:solidFill>
                  </a:tcPr>
                </a:tc>
                <a:tc>
                  <a:txBody>
                    <a:bodyPr/>
                    <a:lstStyle/>
                    <a:p>
                      <a:pPr algn="l">
                        <a:defRPr sz="850">
                          <a:solidFill>
                            <a:srgbClr val="1E293B"/>
                          </a:solidFill>
                          <a:latin typeface="Georgia"/>
                        </a:defRPr>
                      </a:pPr>
                      <a:r>
                        <a:t>Elevated inference latency; absence of interactive real-time retention dashboard</a:t>
                      </a:r>
                    </a:p>
                  </a:txBody>
                  <a:tcPr>
                    <a:solidFill>
                      <a:srgbClr val="EDF2F7"/>
                    </a:solidFill>
                  </a:tcPr>
                </a:tc>
                <a:tc>
                  <a:txBody>
                    <a:bodyPr/>
                    <a:lstStyle/>
                    <a:p>
                      <a:pPr algn="l">
                        <a:defRPr sz="850">
                          <a:solidFill>
                            <a:srgbClr val="1E293B"/>
                          </a:solidFill>
                          <a:latin typeface="Georgia"/>
                        </a:defRPr>
                      </a:pPr>
                      <a:r>
                        <a:t>Springer (Discover Comp.)</a:t>
                      </a:r>
                    </a:p>
                  </a:txBody>
                  <a:tcPr>
                    <a:solidFill>
                      <a:srgbClr val="EDF2F7"/>
                    </a:solidFill>
                  </a:tcPr>
                </a:tc>
                <a:extLst>
                  <a:ext uri="{0D108BD9-81ED-4DB2-BD59-A6C34878D82A}">
                    <a16:rowId xmlns:a16="http://schemas.microsoft.com/office/drawing/2014/main" val="10004"/>
                  </a:ext>
                </a:extLst>
              </a:tr>
              <a:tr h="579120">
                <a:tc>
                  <a:txBody>
                    <a:bodyPr/>
                    <a:lstStyle/>
                    <a:p>
                      <a:pPr algn="ctr">
                        <a:defRPr sz="850" b="1">
                          <a:solidFill>
                            <a:srgbClr val="1E293B"/>
                          </a:solidFill>
                          <a:latin typeface="Georgia"/>
                        </a:defRPr>
                      </a:pPr>
                      <a:r>
                        <a:t>5</a:t>
                      </a:r>
                    </a:p>
                  </a:txBody>
                  <a:tcPr>
                    <a:solidFill>
                      <a:srgbClr val="F8FAFC"/>
                    </a:solidFill>
                  </a:tcPr>
                </a:tc>
                <a:tc>
                  <a:txBody>
                    <a:bodyPr/>
                    <a:lstStyle/>
                    <a:p>
                      <a:pPr algn="l">
                        <a:defRPr sz="850">
                          <a:solidFill>
                            <a:srgbClr val="1E293B"/>
                          </a:solidFill>
                          <a:latin typeface="Georgia"/>
                        </a:defRPr>
                      </a:pPr>
                      <a:r>
                        <a:t>Customer Churn Prediction in Telecom Sector Using ML Techniques</a:t>
                      </a:r>
                    </a:p>
                    <a:p>
                      <a:pPr algn="l">
                        <a:defRPr sz="850">
                          <a:solidFill>
                            <a:srgbClr val="1E293B"/>
                          </a:solidFill>
                          <a:latin typeface="Georgia"/>
                        </a:defRPr>
                      </a:pPr>
                      <a:r>
                        <a:t>(2025)</a:t>
                      </a:r>
                    </a:p>
                  </a:txBody>
                  <a:tcPr>
                    <a:solidFill>
                      <a:srgbClr val="F8FAFC"/>
                    </a:solidFill>
                  </a:tcPr>
                </a:tc>
                <a:tc>
                  <a:txBody>
                    <a:bodyPr/>
                    <a:lstStyle/>
                    <a:p>
                      <a:pPr algn="l">
                        <a:defRPr sz="850">
                          <a:solidFill>
                            <a:srgbClr val="1E293B"/>
                          </a:solidFill>
                          <a:latin typeface="Georgia"/>
                        </a:defRPr>
                      </a:pPr>
                      <a:r>
                        <a:rPr dirty="0"/>
                        <a:t>Rohi</a:t>
                      </a:r>
                      <a:r>
                        <a:rPr lang="en-US" dirty="0"/>
                        <a:t>t</a:t>
                      </a:r>
                      <a:endParaRPr dirty="0"/>
                    </a:p>
                  </a:txBody>
                  <a:tcPr>
                    <a:solidFill>
                      <a:srgbClr val="F8FAFC"/>
                    </a:solidFill>
                  </a:tcPr>
                </a:tc>
                <a:tc>
                  <a:txBody>
                    <a:bodyPr/>
                    <a:lstStyle/>
                    <a:p>
                      <a:pPr algn="l">
                        <a:defRPr sz="850">
                          <a:solidFill>
                            <a:srgbClr val="1E293B"/>
                          </a:solidFill>
                          <a:latin typeface="Georgia"/>
                        </a:defRPr>
                      </a:pPr>
                      <a:r>
                        <a:t>Exploratory Data Analysis with Multi-Model Benchmarking (RF, SVM, LR)</a:t>
                      </a:r>
                    </a:p>
                  </a:txBody>
                  <a:tcPr>
                    <a:solidFill>
                      <a:srgbClr val="F8FAFC"/>
                    </a:solidFill>
                  </a:tcPr>
                </a:tc>
                <a:tc>
                  <a:txBody>
                    <a:bodyPr/>
                    <a:lstStyle/>
                    <a:p>
                      <a:pPr algn="l">
                        <a:defRPr sz="850">
                          <a:solidFill>
                            <a:srgbClr val="1E293B"/>
                          </a:solidFill>
                          <a:latin typeface="Georgia"/>
                        </a:defRPr>
                      </a:pPr>
                      <a:r>
                        <a:t>Evaluated on single static dataset; lacks financial risk &amp; revenue loss metrics</a:t>
                      </a:r>
                    </a:p>
                  </a:txBody>
                  <a:tcPr>
                    <a:solidFill>
                      <a:srgbClr val="F8FAFC"/>
                    </a:solidFill>
                  </a:tcPr>
                </a:tc>
                <a:tc>
                  <a:txBody>
                    <a:bodyPr/>
                    <a:lstStyle/>
                    <a:p>
                      <a:pPr algn="l">
                        <a:defRPr sz="850">
                          <a:solidFill>
                            <a:srgbClr val="1E293B"/>
                          </a:solidFill>
                          <a:latin typeface="Georgia"/>
                        </a:defRPr>
                      </a:pPr>
                      <a:r>
                        <a:rPr dirty="0"/>
                        <a:t>IEEE ICONAT</a:t>
                      </a:r>
                    </a:p>
                  </a:txBody>
                  <a:tcPr>
                    <a:solidFill>
                      <a:srgbClr val="F8FAF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3">
            <a:extLst>
              <a:ext uri="{FF2B5EF4-FFF2-40B4-BE49-F238E27FC236}">
                <a16:creationId xmlns:a16="http://schemas.microsoft.com/office/drawing/2014/main" id="{50DD0BD9-3A72-CF51-80AB-E9B7F4FB2B27}"/>
              </a:ext>
            </a:extLst>
          </p:cNvPr>
          <p:cNvSpPr txBox="1">
            <a:spLocks noChangeArrowheads="1"/>
          </p:cNvSpPr>
          <p:nvPr/>
        </p:nvSpPr>
        <p:spPr bwMode="auto">
          <a:xfrm>
            <a:off x="698500" y="531813"/>
            <a:ext cx="8045450"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0B3B60"/>
                </a:solidFill>
                <a:latin typeface="Georgia" panose="02040502050405020303" pitchFamily="18" charset="0"/>
              </a:rPr>
              <a:t>Existing Work and Limitations</a:t>
            </a:r>
          </a:p>
        </p:txBody>
      </p:sp>
      <p:sp>
        <p:nvSpPr>
          <p:cNvPr id="5" name="TextBox 4">
            <a:extLst>
              <a:ext uri="{FF2B5EF4-FFF2-40B4-BE49-F238E27FC236}">
                <a16:creationId xmlns:a16="http://schemas.microsoft.com/office/drawing/2014/main" id="{988524B9-E1DB-B1DE-CE9C-3FDBF20789BF}"/>
              </a:ext>
            </a:extLst>
          </p:cNvPr>
          <p:cNvSpPr txBox="1"/>
          <p:nvPr/>
        </p:nvSpPr>
        <p:spPr>
          <a:xfrm>
            <a:off x="822325" y="1096963"/>
            <a:ext cx="8047038" cy="2836862"/>
          </a:xfrm>
          <a:prstGeom prst="rect">
            <a:avLst/>
          </a:prstGeom>
          <a:noFill/>
        </p:spPr>
        <p:txBody>
          <a:bodyPr>
            <a:spAutoFit/>
          </a:bodyPr>
          <a:lstStyle/>
          <a:p>
            <a:pPr eaLnBrk="1" fontAlgn="auto" hangingPunct="1">
              <a:spcBef>
                <a:spcPts val="0"/>
              </a:spcBef>
              <a:spcAft>
                <a:spcPts val="400"/>
              </a:spcAft>
              <a:defRPr sz="1500" b="1">
                <a:solidFill>
                  <a:srgbClr val="0B3B60"/>
                </a:solidFill>
              </a:defRPr>
            </a:pPr>
            <a:r>
              <a:rPr sz="1500" b="1" dirty="0">
                <a:solidFill>
                  <a:srgbClr val="FF0000"/>
                </a:solidFill>
                <a:latin typeface="+mn-lt"/>
              </a:rPr>
              <a:t>Current / Existing Industry Approaches</a:t>
            </a:r>
          </a:p>
          <a:p>
            <a:pPr eaLnBrk="1" fontAlgn="auto" hangingPunct="1">
              <a:spcBef>
                <a:spcPts val="0"/>
              </a:spcBef>
              <a:spcAft>
                <a:spcPts val="300"/>
              </a:spcAft>
              <a:defRPr sz="1250">
                <a:solidFill>
                  <a:srgbClr val="1E293B"/>
                </a:solidFill>
              </a:defRPr>
            </a:pPr>
            <a:r>
              <a:rPr sz="1250" dirty="0">
                <a:solidFill>
                  <a:srgbClr val="1E293B"/>
                </a:solidFill>
                <a:latin typeface="+mn-lt"/>
              </a:rPr>
              <a:t>• Traditional Rule-Based Analytics: Many telecom providers rely on static heuristic threshold rules (e.g., flag accounts after 2 missed bills).</a:t>
            </a:r>
          </a:p>
          <a:p>
            <a:pPr eaLnBrk="1" fontAlgn="auto" hangingPunct="1">
              <a:spcBef>
                <a:spcPts val="0"/>
              </a:spcBef>
              <a:spcAft>
                <a:spcPts val="300"/>
              </a:spcAft>
              <a:defRPr sz="1250">
                <a:solidFill>
                  <a:srgbClr val="1E293B"/>
                </a:solidFill>
              </a:defRPr>
            </a:pPr>
            <a:r>
              <a:rPr sz="1250" dirty="0">
                <a:solidFill>
                  <a:srgbClr val="1E293B"/>
                </a:solidFill>
                <a:latin typeface="+mn-lt"/>
              </a:rPr>
              <a:t>• Isolated Model Experiments: Prior studies focus exclusively on model training accuracy without deploying end-to-end usable business applications.</a:t>
            </a:r>
          </a:p>
          <a:p>
            <a:pPr eaLnBrk="1" fontAlgn="auto" hangingPunct="1">
              <a:spcBef>
                <a:spcPts val="800"/>
              </a:spcBef>
              <a:spcAft>
                <a:spcPts val="400"/>
              </a:spcAft>
              <a:defRPr sz="1500" b="1">
                <a:solidFill>
                  <a:srgbClr val="C8102E"/>
                </a:solidFill>
              </a:defRPr>
            </a:pPr>
            <a:r>
              <a:rPr sz="1500" b="1" dirty="0">
                <a:solidFill>
                  <a:srgbClr val="C8102E"/>
                </a:solidFill>
                <a:latin typeface="+mn-lt"/>
              </a:rPr>
              <a:t>Key Limitations of Existing Systems</a:t>
            </a:r>
          </a:p>
          <a:p>
            <a:pPr eaLnBrk="1" fontAlgn="auto" hangingPunct="1">
              <a:spcBef>
                <a:spcPts val="0"/>
              </a:spcBef>
              <a:spcAft>
                <a:spcPts val="300"/>
              </a:spcAft>
              <a:defRPr sz="1250">
                <a:solidFill>
                  <a:srgbClr val="1E293B"/>
                </a:solidFill>
              </a:defRPr>
            </a:pPr>
            <a:r>
              <a:rPr sz="1250" dirty="0">
                <a:solidFill>
                  <a:srgbClr val="1E293B"/>
                </a:solidFill>
                <a:latin typeface="+mn-lt"/>
              </a:rPr>
              <a:t>• Neglect of Class Imbalance: Churn datasets typically have a ~73:27 majority-minority split, causing standard models to be biased toward non-churners.</a:t>
            </a:r>
          </a:p>
          <a:p>
            <a:pPr eaLnBrk="1" fontAlgn="auto" hangingPunct="1">
              <a:spcBef>
                <a:spcPts val="0"/>
              </a:spcBef>
              <a:spcAft>
                <a:spcPts val="300"/>
              </a:spcAft>
              <a:defRPr sz="1250">
                <a:solidFill>
                  <a:srgbClr val="1E293B"/>
                </a:solidFill>
              </a:defRPr>
            </a:pPr>
            <a:r>
              <a:rPr sz="1250" dirty="0">
                <a:solidFill>
                  <a:srgbClr val="1E293B"/>
                </a:solidFill>
                <a:latin typeface="+mn-lt"/>
              </a:rPr>
              <a:t>• Lack of Revenue Quantification: Existing solutions predict binary labels (0/1) but fail to quantify the direct financial revenue at risk ($/month).</a:t>
            </a:r>
          </a:p>
          <a:p>
            <a:pPr eaLnBrk="1" fontAlgn="auto" hangingPunct="1">
              <a:spcBef>
                <a:spcPts val="0"/>
              </a:spcBef>
              <a:spcAft>
                <a:spcPts val="300"/>
              </a:spcAft>
              <a:defRPr sz="1250">
                <a:solidFill>
                  <a:srgbClr val="1E293B"/>
                </a:solidFill>
              </a:defRPr>
            </a:pPr>
            <a:r>
              <a:rPr sz="1250" dirty="0">
                <a:solidFill>
                  <a:srgbClr val="1E293B"/>
                </a:solidFill>
                <a:latin typeface="+mn-lt"/>
              </a:rPr>
              <a:t>• Absence of Real-Time Decision Support: Most models operate in offline batch scripts without an accessible web interface for customer support teams.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3">
            <a:extLst>
              <a:ext uri="{FF2B5EF4-FFF2-40B4-BE49-F238E27FC236}">
                <a16:creationId xmlns:a16="http://schemas.microsoft.com/office/drawing/2014/main" id="{F561ADF7-540F-DEAA-F039-985748F9EC7D}"/>
              </a:ext>
            </a:extLst>
          </p:cNvPr>
          <p:cNvSpPr txBox="1">
            <a:spLocks noChangeArrowheads="1"/>
          </p:cNvSpPr>
          <p:nvPr/>
        </p:nvSpPr>
        <p:spPr bwMode="auto">
          <a:xfrm>
            <a:off x="646113" y="457200"/>
            <a:ext cx="80454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0B3B60"/>
                </a:solidFill>
                <a:latin typeface="Georgia" panose="02040502050405020303" pitchFamily="18" charset="0"/>
              </a:rPr>
              <a:t>Proposed Work and Advantages</a:t>
            </a:r>
          </a:p>
        </p:txBody>
      </p:sp>
      <p:sp>
        <p:nvSpPr>
          <p:cNvPr id="5" name="TextBox 4">
            <a:extLst>
              <a:ext uri="{FF2B5EF4-FFF2-40B4-BE49-F238E27FC236}">
                <a16:creationId xmlns:a16="http://schemas.microsoft.com/office/drawing/2014/main" id="{FA275011-E678-9165-A3BA-9B64A4488EF1}"/>
              </a:ext>
            </a:extLst>
          </p:cNvPr>
          <p:cNvSpPr txBox="1"/>
          <p:nvPr/>
        </p:nvSpPr>
        <p:spPr>
          <a:xfrm>
            <a:off x="822325" y="1096963"/>
            <a:ext cx="8047038" cy="3260725"/>
          </a:xfrm>
          <a:prstGeom prst="rect">
            <a:avLst/>
          </a:prstGeom>
          <a:noFill/>
        </p:spPr>
        <p:txBody>
          <a:bodyPr>
            <a:spAutoFit/>
          </a:bodyPr>
          <a:lstStyle/>
          <a:p>
            <a:pPr eaLnBrk="1" fontAlgn="auto" hangingPunct="1">
              <a:spcBef>
                <a:spcPts val="0"/>
              </a:spcBef>
              <a:spcAft>
                <a:spcPts val="400"/>
              </a:spcAft>
              <a:defRPr sz="1500" b="1">
                <a:solidFill>
                  <a:srgbClr val="0B3B60"/>
                </a:solidFill>
              </a:defRPr>
            </a:pPr>
            <a:r>
              <a:rPr sz="1500" b="1" dirty="0">
                <a:solidFill>
                  <a:srgbClr val="FF0000"/>
                </a:solidFill>
                <a:latin typeface="+mn-lt"/>
              </a:rPr>
              <a:t>Proposed Methodology</a:t>
            </a:r>
          </a:p>
          <a:p>
            <a:pPr marL="285750" indent="-285750" eaLnBrk="1" fontAlgn="auto" hangingPunct="1">
              <a:spcBef>
                <a:spcPts val="0"/>
              </a:spcBef>
              <a:spcAft>
                <a:spcPts val="300"/>
              </a:spcAft>
              <a:buFont typeface="Arial" panose="020B0604020202020204" pitchFamily="34" charset="0"/>
              <a:buChar char="•"/>
              <a:defRPr sz="1250">
                <a:solidFill>
                  <a:srgbClr val="1E293B"/>
                </a:solidFill>
              </a:defRPr>
            </a:pPr>
            <a:r>
              <a:rPr sz="1250" dirty="0">
                <a:solidFill>
                  <a:srgbClr val="1E293B"/>
                </a:solidFill>
                <a:latin typeface="+mn-lt"/>
              </a:rPr>
              <a:t>• End-to-End Automated Pipeline: Comprehensive orchestration from raw CSV ingestion to automated EDA, SMOTE balancing, SQL storage, and web UI.</a:t>
            </a:r>
          </a:p>
          <a:p>
            <a:pPr marL="285750" indent="-285750" eaLnBrk="1" fontAlgn="auto" hangingPunct="1">
              <a:spcBef>
                <a:spcPts val="0"/>
              </a:spcBef>
              <a:spcAft>
                <a:spcPts val="300"/>
              </a:spcAft>
              <a:buFont typeface="Arial" panose="020B0604020202020204" pitchFamily="34" charset="0"/>
              <a:buChar char="•"/>
              <a:defRPr sz="1250">
                <a:solidFill>
                  <a:srgbClr val="1E293B"/>
                </a:solidFill>
              </a:defRPr>
            </a:pPr>
            <a:r>
              <a:rPr sz="1250" dirty="0">
                <a:solidFill>
                  <a:srgbClr val="1E293B"/>
                </a:solidFill>
                <a:latin typeface="+mn-lt"/>
              </a:rPr>
              <a:t>• Advanced Feature Engineering: Creation of domain-specific features including </a:t>
            </a:r>
            <a:r>
              <a:rPr sz="1250" dirty="0" err="1">
                <a:solidFill>
                  <a:srgbClr val="1E293B"/>
                </a:solidFill>
                <a:latin typeface="+mn-lt"/>
              </a:rPr>
              <a:t>ChargesPerTenure</a:t>
            </a:r>
            <a:r>
              <a:rPr sz="1250" dirty="0">
                <a:solidFill>
                  <a:srgbClr val="1E293B"/>
                </a:solidFill>
                <a:latin typeface="+mn-lt"/>
              </a:rPr>
              <a:t>, </a:t>
            </a:r>
            <a:r>
              <a:rPr sz="1250" dirty="0" err="1">
                <a:solidFill>
                  <a:srgbClr val="1E293B"/>
                </a:solidFill>
                <a:latin typeface="+mn-lt"/>
              </a:rPr>
              <a:t>ServiceCount</a:t>
            </a:r>
            <a:r>
              <a:rPr sz="1250" dirty="0">
                <a:solidFill>
                  <a:srgbClr val="1E293B"/>
                </a:solidFill>
                <a:latin typeface="+mn-lt"/>
              </a:rPr>
              <a:t>, and a composite </a:t>
            </a:r>
            <a:r>
              <a:rPr sz="1250" dirty="0" err="1">
                <a:solidFill>
                  <a:srgbClr val="1E293B"/>
                </a:solidFill>
                <a:latin typeface="+mn-lt"/>
              </a:rPr>
              <a:t>RiskScore</a:t>
            </a:r>
            <a:r>
              <a:rPr sz="1250" dirty="0">
                <a:solidFill>
                  <a:srgbClr val="1E293B"/>
                </a:solidFill>
                <a:latin typeface="+mn-lt"/>
              </a:rPr>
              <a:t>.</a:t>
            </a:r>
          </a:p>
          <a:p>
            <a:pPr marL="285750" indent="-285750" eaLnBrk="1" fontAlgn="auto" hangingPunct="1">
              <a:spcBef>
                <a:spcPts val="0"/>
              </a:spcBef>
              <a:spcAft>
                <a:spcPts val="300"/>
              </a:spcAft>
              <a:buFont typeface="Arial" panose="020B0604020202020204" pitchFamily="34" charset="0"/>
              <a:buChar char="•"/>
              <a:defRPr sz="1250">
                <a:solidFill>
                  <a:srgbClr val="1E293B"/>
                </a:solidFill>
              </a:defRPr>
            </a:pPr>
            <a:r>
              <a:rPr sz="1250" dirty="0">
                <a:solidFill>
                  <a:srgbClr val="1E293B"/>
                </a:solidFill>
                <a:latin typeface="+mn-lt"/>
              </a:rPr>
              <a:t>• Multi-Model Comparative Benchmarking: Rigorous evaluation of Random Forest, </a:t>
            </a:r>
            <a:r>
              <a:rPr sz="1250" dirty="0" err="1">
                <a:solidFill>
                  <a:srgbClr val="1E293B"/>
                </a:solidFill>
                <a:latin typeface="+mn-lt"/>
              </a:rPr>
              <a:t>XGBoost</a:t>
            </a:r>
            <a:r>
              <a:rPr sz="1250" dirty="0">
                <a:solidFill>
                  <a:srgbClr val="1E293B"/>
                </a:solidFill>
                <a:latin typeface="+mn-lt"/>
              </a:rPr>
              <a:t>, and Logistic Regression with cross-validation.</a:t>
            </a:r>
          </a:p>
          <a:p>
            <a:pPr eaLnBrk="1" fontAlgn="auto" hangingPunct="1">
              <a:spcBef>
                <a:spcPts val="800"/>
              </a:spcBef>
              <a:spcAft>
                <a:spcPts val="400"/>
              </a:spcAft>
              <a:defRPr sz="1500" b="1">
                <a:solidFill>
                  <a:srgbClr val="047857"/>
                </a:solidFill>
              </a:defRPr>
            </a:pPr>
            <a:r>
              <a:rPr sz="1500" b="1" dirty="0">
                <a:solidFill>
                  <a:srgbClr val="047857"/>
                </a:solidFill>
                <a:latin typeface="+mn-lt"/>
              </a:rPr>
              <a:t>Key Advantages</a:t>
            </a:r>
          </a:p>
          <a:p>
            <a:pPr marL="285750" indent="-285750" eaLnBrk="1" fontAlgn="auto" hangingPunct="1">
              <a:spcBef>
                <a:spcPts val="0"/>
              </a:spcBef>
              <a:spcAft>
                <a:spcPts val="300"/>
              </a:spcAft>
              <a:buFont typeface="Arial" panose="020B0604020202020204" pitchFamily="34" charset="0"/>
              <a:buChar char="•"/>
              <a:defRPr sz="1250">
                <a:solidFill>
                  <a:srgbClr val="1E293B"/>
                </a:solidFill>
              </a:defRPr>
            </a:pPr>
            <a:r>
              <a:rPr lang="en-IN" sz="1250" dirty="0">
                <a:solidFill>
                  <a:srgbClr val="1E293B"/>
                </a:solidFill>
                <a:latin typeface="+mn-lt"/>
              </a:rPr>
              <a:t>• H</a:t>
            </a:r>
            <a:r>
              <a:rPr sz="1250" dirty="0" err="1">
                <a:solidFill>
                  <a:srgbClr val="1E293B"/>
                </a:solidFill>
                <a:latin typeface="+mn-lt"/>
              </a:rPr>
              <a:t>igh</a:t>
            </a:r>
            <a:r>
              <a:rPr sz="1250" dirty="0">
                <a:solidFill>
                  <a:srgbClr val="1E293B"/>
                </a:solidFill>
                <a:latin typeface="+mn-lt"/>
              </a:rPr>
              <a:t> Predictive Reliability: Achieved 83.62% ROC-AUC and 70.43% churn recall, effectively capturing at-risk subscribers.</a:t>
            </a:r>
          </a:p>
          <a:p>
            <a:pPr marL="285750" indent="-285750" eaLnBrk="1" fontAlgn="auto" hangingPunct="1">
              <a:spcBef>
                <a:spcPts val="0"/>
              </a:spcBef>
              <a:spcAft>
                <a:spcPts val="300"/>
              </a:spcAft>
              <a:buFont typeface="Arial" panose="020B0604020202020204" pitchFamily="34" charset="0"/>
              <a:buChar char="•"/>
              <a:defRPr sz="1250">
                <a:solidFill>
                  <a:srgbClr val="1E293B"/>
                </a:solidFill>
              </a:defRPr>
            </a:pPr>
            <a:r>
              <a:rPr sz="1250" dirty="0">
                <a:solidFill>
                  <a:srgbClr val="1E293B"/>
                </a:solidFill>
                <a:latin typeface="+mn-lt"/>
              </a:rPr>
              <a:t>• Quantified Financial Impact: SQL analytics calculates exact revenue at risk ($138,529/</a:t>
            </a:r>
            <a:r>
              <a:rPr sz="1250" dirty="0" err="1">
                <a:solidFill>
                  <a:srgbClr val="1E293B"/>
                </a:solidFill>
                <a:latin typeface="+mn-lt"/>
              </a:rPr>
              <a:t>mo</a:t>
            </a:r>
            <a:r>
              <a:rPr sz="1250" dirty="0">
                <a:solidFill>
                  <a:srgbClr val="1E293B"/>
                </a:solidFill>
                <a:latin typeface="+mn-lt"/>
              </a:rPr>
              <a:t>) to prioritize high-value customer retention.</a:t>
            </a:r>
          </a:p>
          <a:p>
            <a:pPr marL="285750" indent="-285750" eaLnBrk="1" fontAlgn="auto" hangingPunct="1">
              <a:spcBef>
                <a:spcPts val="0"/>
              </a:spcBef>
              <a:spcAft>
                <a:spcPts val="300"/>
              </a:spcAft>
              <a:buFont typeface="Arial" panose="020B0604020202020204" pitchFamily="34" charset="0"/>
              <a:buChar char="•"/>
              <a:defRPr sz="1250">
                <a:solidFill>
                  <a:srgbClr val="1E293B"/>
                </a:solidFill>
              </a:defRPr>
            </a:pPr>
            <a:r>
              <a:rPr sz="1250" dirty="0">
                <a:solidFill>
                  <a:srgbClr val="1E293B"/>
                </a:solidFill>
                <a:latin typeface="+mn-lt"/>
              </a:rPr>
              <a:t>• Operational Ready: Includes an intuitive </a:t>
            </a:r>
            <a:r>
              <a:rPr sz="1250" dirty="0" err="1">
                <a:solidFill>
                  <a:srgbClr val="1E293B"/>
                </a:solidFill>
                <a:latin typeface="+mn-lt"/>
              </a:rPr>
              <a:t>Streamlit</a:t>
            </a:r>
            <a:r>
              <a:rPr sz="1250" dirty="0">
                <a:solidFill>
                  <a:srgbClr val="1E293B"/>
                </a:solidFill>
                <a:latin typeface="+mn-lt"/>
              </a:rPr>
              <a:t> dashboard allowing non-technical managers to run instant real-time predictions.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88A8B6BB-700C-5471-B180-0C8F3DB42A6A}"/>
              </a:ext>
            </a:extLst>
          </p:cNvPr>
          <p:cNvSpPr>
            <a:spLocks noGrp="1" noChangeArrowheads="1"/>
          </p:cNvSpPr>
          <p:nvPr>
            <p:ph type="title"/>
          </p:nvPr>
        </p:nvSpPr>
        <p:spPr bwMode="auto">
          <a:xfrm>
            <a:off x="1920875" y="666750"/>
            <a:ext cx="6235700" cy="357188"/>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00"/>
                </a:solidFill>
                <a:miter lim="800000"/>
                <a:headEnd/>
                <a:tailEnd/>
              </a14:hiddenLine>
            </a:ext>
          </a:extLst>
        </p:spPr>
        <p:txBody>
          <a:bodyPr vert="horz" wrap="square" anchorCtr="0" compatLnSpc="1">
            <a:prstTxWarp prst="textNoShape">
              <a:avLst/>
            </a:prstTxWarp>
          </a:bodyPr>
          <a:lstStyle/>
          <a:p>
            <a:pPr eaLnBrk="1" hangingPunct="1"/>
            <a:r>
              <a:rPr lang="en-IN" altLang="en-US">
                <a:latin typeface="Arial" panose="020B0604020202020204" pitchFamily="34" charset="0"/>
              </a:rPr>
              <a:t>Software and Hardware Requirements</a:t>
            </a:r>
            <a:br>
              <a:rPr lang="en-IN" altLang="en-US">
                <a:latin typeface="Arial" panose="020B0604020202020204" pitchFamily="34" charset="0"/>
              </a:rPr>
            </a:br>
            <a:endParaRPr altLang="en-US">
              <a:latin typeface="Arial" panose="020B0604020202020204" pitchFamily="34" charset="0"/>
            </a:endParaRPr>
          </a:p>
        </p:txBody>
      </p:sp>
      <p:sp>
        <p:nvSpPr>
          <p:cNvPr id="19459" name="TextBox 4">
            <a:extLst>
              <a:ext uri="{FF2B5EF4-FFF2-40B4-BE49-F238E27FC236}">
                <a16:creationId xmlns:a16="http://schemas.microsoft.com/office/drawing/2014/main" id="{931C017E-AA29-70E3-8354-11CDD12AFCED}"/>
              </a:ext>
            </a:extLst>
          </p:cNvPr>
          <p:cNvSpPr txBox="1">
            <a:spLocks noChangeArrowheads="1"/>
          </p:cNvSpPr>
          <p:nvPr/>
        </p:nvSpPr>
        <p:spPr bwMode="auto">
          <a:xfrm>
            <a:off x="731838" y="1096963"/>
            <a:ext cx="3932237" cy="231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600"/>
              </a:spcAft>
            </a:pPr>
            <a:r>
              <a:rPr lang="en-US" altLang="en-US" sz="1500" b="1">
                <a:solidFill>
                  <a:srgbClr val="FF0000"/>
                </a:solidFill>
              </a:rPr>
              <a:t>Software Requirements</a:t>
            </a:r>
          </a:p>
          <a:p>
            <a:pPr eaLnBrk="1" hangingPunct="1">
              <a:spcAft>
                <a:spcPts val="400"/>
              </a:spcAft>
            </a:pPr>
            <a:r>
              <a:rPr lang="en-US" altLang="en-US" sz="1200">
                <a:solidFill>
                  <a:srgbClr val="1E293B"/>
                </a:solidFill>
              </a:rPr>
              <a:t>• Operating System: Windows 10 / 11 / Linux</a:t>
            </a:r>
          </a:p>
          <a:p>
            <a:pPr eaLnBrk="1" hangingPunct="1">
              <a:spcAft>
                <a:spcPts val="400"/>
              </a:spcAft>
            </a:pPr>
            <a:r>
              <a:rPr lang="en-US" altLang="en-US" sz="1200">
                <a:solidFill>
                  <a:srgbClr val="1E293B"/>
                </a:solidFill>
              </a:rPr>
              <a:t>• Programming Language: Python 3.9+</a:t>
            </a:r>
          </a:p>
          <a:p>
            <a:pPr eaLnBrk="1" hangingPunct="1">
              <a:spcAft>
                <a:spcPts val="400"/>
              </a:spcAft>
            </a:pPr>
            <a:r>
              <a:rPr lang="en-US" altLang="en-US" sz="1200">
                <a:solidFill>
                  <a:srgbClr val="1E293B"/>
                </a:solidFill>
              </a:rPr>
              <a:t>• ML &amp; Data Libraries: Scikit-learn, XGBoost, Imbalanced-learn (SMOTE), Pandas, NumPy</a:t>
            </a:r>
          </a:p>
          <a:p>
            <a:pPr eaLnBrk="1" hangingPunct="1">
              <a:spcAft>
                <a:spcPts val="400"/>
              </a:spcAft>
            </a:pPr>
            <a:r>
              <a:rPr lang="en-US" altLang="en-US" sz="1200">
                <a:solidFill>
                  <a:srgbClr val="1E293B"/>
                </a:solidFill>
              </a:rPr>
              <a:t>• Database Engine: SQLite3 &amp; SQLAlchemy</a:t>
            </a:r>
          </a:p>
          <a:p>
            <a:pPr eaLnBrk="1" hangingPunct="1">
              <a:spcAft>
                <a:spcPts val="400"/>
              </a:spcAft>
            </a:pPr>
            <a:r>
              <a:rPr lang="en-US" altLang="en-US" sz="1200">
                <a:solidFill>
                  <a:srgbClr val="1E293B"/>
                </a:solidFill>
              </a:rPr>
              <a:t>• Visualization &amp; Web UI: Streamlit, Matplotlib, Seaborn, Plotly</a:t>
            </a:r>
          </a:p>
          <a:p>
            <a:pPr eaLnBrk="1" hangingPunct="1">
              <a:spcAft>
                <a:spcPts val="400"/>
              </a:spcAft>
            </a:pPr>
            <a:r>
              <a:rPr lang="en-US" altLang="en-US" sz="1200">
                <a:solidFill>
                  <a:srgbClr val="1E293B"/>
                </a:solidFill>
              </a:rPr>
              <a:t>• Documentation &amp; Reports: python-pptx, python-docx, ReportLab</a:t>
            </a:r>
          </a:p>
        </p:txBody>
      </p:sp>
      <p:sp>
        <p:nvSpPr>
          <p:cNvPr id="19460" name="TextBox 5">
            <a:extLst>
              <a:ext uri="{FF2B5EF4-FFF2-40B4-BE49-F238E27FC236}">
                <a16:creationId xmlns:a16="http://schemas.microsoft.com/office/drawing/2014/main" id="{B349F26E-DA27-221A-0B1F-797CA660D13A}"/>
              </a:ext>
            </a:extLst>
          </p:cNvPr>
          <p:cNvSpPr txBox="1">
            <a:spLocks noChangeArrowheads="1"/>
          </p:cNvSpPr>
          <p:nvPr/>
        </p:nvSpPr>
        <p:spPr bwMode="auto">
          <a:xfrm>
            <a:off x="4937125" y="1096963"/>
            <a:ext cx="3932238" cy="356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600"/>
              </a:spcAft>
            </a:pPr>
            <a:r>
              <a:rPr lang="en-US" altLang="en-US" sz="1500" b="1">
                <a:solidFill>
                  <a:srgbClr val="C8102E"/>
                </a:solidFill>
              </a:rPr>
              <a:t>Hardware Requirements</a:t>
            </a:r>
          </a:p>
          <a:p>
            <a:pPr eaLnBrk="1" hangingPunct="1">
              <a:spcAft>
                <a:spcPts val="400"/>
              </a:spcAft>
            </a:pPr>
            <a:r>
              <a:rPr lang="en-US" altLang="en-US" sz="1200">
                <a:solidFill>
                  <a:srgbClr val="1E293B"/>
                </a:solidFill>
              </a:rPr>
              <a:t>• Processor: Intel Core i5 / AMD Ryzen 5 or higher</a:t>
            </a:r>
          </a:p>
          <a:p>
            <a:pPr eaLnBrk="1" hangingPunct="1">
              <a:spcAft>
                <a:spcPts val="400"/>
              </a:spcAft>
            </a:pPr>
            <a:r>
              <a:rPr lang="en-US" altLang="en-US" sz="1200">
                <a:solidFill>
                  <a:srgbClr val="1E293B"/>
                </a:solidFill>
              </a:rPr>
              <a:t>• RAM: Minimum 8 GB (16 GB Recommended)</a:t>
            </a:r>
          </a:p>
          <a:p>
            <a:pPr eaLnBrk="1" hangingPunct="1">
              <a:spcAft>
                <a:spcPts val="400"/>
              </a:spcAft>
            </a:pPr>
            <a:r>
              <a:rPr lang="en-US" altLang="en-US" sz="1200">
                <a:solidFill>
                  <a:srgbClr val="1E293B"/>
                </a:solidFill>
              </a:rPr>
              <a:t>• Storage: 500 MB free disk space for dataset, database &amp; models</a:t>
            </a:r>
          </a:p>
          <a:p>
            <a:pPr eaLnBrk="1" hangingPunct="1">
              <a:spcAft>
                <a:spcPts val="400"/>
              </a:spcAft>
            </a:pPr>
            <a:r>
              <a:rPr lang="en-US" altLang="en-US" sz="1200">
                <a:solidFill>
                  <a:srgbClr val="1E293B"/>
                </a:solidFill>
              </a:rPr>
              <a:t>• Display: Standard Full HD (1920x1080) resolution</a:t>
            </a:r>
          </a:p>
          <a:p>
            <a:pPr eaLnBrk="1" hangingPunct="1">
              <a:spcAft>
                <a:spcPts val="400"/>
              </a:spcAft>
            </a:pPr>
            <a:r>
              <a:rPr lang="en-US" altLang="en-US" sz="1200">
                <a:solidFill>
                  <a:srgbClr val="1E293B"/>
                </a:solidFill>
              </a:rPr>
              <a:t>• Connectivity: Active Internet connection for initial package installation and data retrieval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1">
            <a:extLst>
              <a:ext uri="{FF2B5EF4-FFF2-40B4-BE49-F238E27FC236}">
                <a16:creationId xmlns:a16="http://schemas.microsoft.com/office/drawing/2014/main" id="{06BB7AF1-A451-2A6A-549D-C97FCA5C5419}"/>
              </a:ext>
            </a:extLst>
          </p:cNvPr>
          <p:cNvSpPr txBox="1">
            <a:spLocks noChangeArrowheads="1"/>
          </p:cNvSpPr>
          <p:nvPr/>
        </p:nvSpPr>
        <p:spPr bwMode="auto">
          <a:xfrm>
            <a:off x="1905000" y="203200"/>
            <a:ext cx="6267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IN" altLang="en-US" sz="2800" b="1">
                <a:solidFill>
                  <a:srgbClr val="0A2D5A"/>
                </a:solidFill>
                <a:latin typeface="Georgia" panose="02040502050405020303" pitchFamily="18" charset="0"/>
              </a:rPr>
              <a:t>System Architecture</a:t>
            </a:r>
          </a:p>
        </p:txBody>
      </p:sp>
      <p:pic>
        <p:nvPicPr>
          <p:cNvPr id="20483" name="Picture 3">
            <a:extLst>
              <a:ext uri="{FF2B5EF4-FFF2-40B4-BE49-F238E27FC236}">
                <a16:creationId xmlns:a16="http://schemas.microsoft.com/office/drawing/2014/main" id="{D8D25C41-470F-B208-1581-C6DE35E2E63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475" y="889000"/>
            <a:ext cx="8064500" cy="363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3">
            <a:extLst>
              <a:ext uri="{FF2B5EF4-FFF2-40B4-BE49-F238E27FC236}">
                <a16:creationId xmlns:a16="http://schemas.microsoft.com/office/drawing/2014/main" id="{340847DD-BF61-96B8-FBD4-A1C035F8BEE5}"/>
              </a:ext>
            </a:extLst>
          </p:cNvPr>
          <p:cNvSpPr txBox="1">
            <a:spLocks noChangeArrowheads="1"/>
          </p:cNvSpPr>
          <p:nvPr/>
        </p:nvSpPr>
        <p:spPr bwMode="auto">
          <a:xfrm>
            <a:off x="496888" y="560388"/>
            <a:ext cx="8047037"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0B3B60"/>
                </a:solidFill>
                <a:latin typeface="Georgia" panose="02040502050405020303" pitchFamily="18" charset="0"/>
              </a:rPr>
              <a:t>Modules</a:t>
            </a:r>
          </a:p>
        </p:txBody>
      </p:sp>
      <p:sp>
        <p:nvSpPr>
          <p:cNvPr id="22531" name="TextBox 4">
            <a:extLst>
              <a:ext uri="{FF2B5EF4-FFF2-40B4-BE49-F238E27FC236}">
                <a16:creationId xmlns:a16="http://schemas.microsoft.com/office/drawing/2014/main" id="{5A7F749D-17A4-5A7F-6929-3AFF5C8A3EF3}"/>
              </a:ext>
            </a:extLst>
          </p:cNvPr>
          <p:cNvSpPr txBox="1">
            <a:spLocks noChangeArrowheads="1"/>
          </p:cNvSpPr>
          <p:nvPr/>
        </p:nvSpPr>
        <p:spPr bwMode="auto">
          <a:xfrm>
            <a:off x="822325" y="1096963"/>
            <a:ext cx="8047038"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Aft>
                <a:spcPts val="500"/>
              </a:spcAft>
            </a:pPr>
            <a:r>
              <a:rPr lang="en-US" altLang="en-US" sz="1200" b="1">
                <a:solidFill>
                  <a:srgbClr val="0B3B60"/>
                </a:solidFill>
              </a:rPr>
              <a:t>• Module 1: Data Ingestion &amp; Preprocessing: </a:t>
            </a:r>
            <a:r>
              <a:rPr lang="en-US" altLang="en-US" sz="1200">
                <a:solidFill>
                  <a:srgbClr val="1E293B"/>
                </a:solidFill>
              </a:rPr>
              <a:t>Handles raw CSV ingestion (7,043 rows), cleans whitespace/missing values in TotalCharges, encodes categorical variables, and performs standard feature scaling.</a:t>
            </a:r>
          </a:p>
          <a:p>
            <a:pPr eaLnBrk="1" hangingPunct="1">
              <a:spcAft>
                <a:spcPts val="500"/>
              </a:spcAft>
            </a:pPr>
            <a:endParaRPr lang="en-US" altLang="en-US" sz="1200">
              <a:solidFill>
                <a:srgbClr val="1E293B"/>
              </a:solidFill>
            </a:endParaRPr>
          </a:p>
          <a:p>
            <a:pPr eaLnBrk="1" hangingPunct="1">
              <a:spcAft>
                <a:spcPts val="500"/>
              </a:spcAft>
            </a:pPr>
            <a:r>
              <a:rPr lang="en-US" altLang="en-US" sz="1200" b="1">
                <a:solidFill>
                  <a:srgbClr val="0B3B60"/>
                </a:solidFill>
              </a:rPr>
              <a:t>• Module 2: Feature Engineering &amp; SMOTE Resampling: </a:t>
            </a:r>
            <a:r>
              <a:rPr lang="en-US" altLang="en-US" sz="1200">
                <a:solidFill>
                  <a:srgbClr val="1E293B"/>
                </a:solidFill>
              </a:rPr>
              <a:t>Derives predictive domain features (ChargesPerTenure, ServiceCount, RiskScore) and balances minority churn cases using SMOTE oversampling.</a:t>
            </a:r>
          </a:p>
          <a:p>
            <a:pPr eaLnBrk="1" hangingPunct="1">
              <a:spcAft>
                <a:spcPts val="500"/>
              </a:spcAft>
            </a:pPr>
            <a:endParaRPr lang="en-US" altLang="en-US" sz="1200">
              <a:solidFill>
                <a:srgbClr val="1E293B"/>
              </a:solidFill>
            </a:endParaRPr>
          </a:p>
          <a:p>
            <a:pPr eaLnBrk="1" hangingPunct="1">
              <a:spcAft>
                <a:spcPts val="500"/>
              </a:spcAft>
            </a:pPr>
            <a:r>
              <a:rPr lang="en-US" altLang="en-US" sz="1200" b="1">
                <a:solidFill>
                  <a:srgbClr val="0B3B60"/>
                </a:solidFill>
              </a:rPr>
              <a:t>• Module 3: Model Training &amp; Evaluation Engine: </a:t>
            </a:r>
            <a:r>
              <a:rPr lang="en-US" altLang="en-US" sz="1200">
                <a:solidFill>
                  <a:srgbClr val="1E293B"/>
                </a:solidFill>
              </a:rPr>
              <a:t>Trains Logistic Regression, Random Forest, and XGBoost with hyperparameter tuning; exports evaluation metrics (AUC, F1, Recall, Confusion Matrices).</a:t>
            </a:r>
          </a:p>
          <a:p>
            <a:pPr eaLnBrk="1" hangingPunct="1">
              <a:spcAft>
                <a:spcPts val="500"/>
              </a:spcAft>
            </a:pPr>
            <a:endParaRPr lang="en-US" altLang="en-US" sz="1200">
              <a:solidFill>
                <a:srgbClr val="1E293B"/>
              </a:solidFill>
            </a:endParaRPr>
          </a:p>
          <a:p>
            <a:pPr eaLnBrk="1" hangingPunct="1">
              <a:spcAft>
                <a:spcPts val="500"/>
              </a:spcAft>
            </a:pPr>
            <a:r>
              <a:rPr lang="en-US" altLang="en-US" sz="1200" b="1">
                <a:solidFill>
                  <a:srgbClr val="0B3B60"/>
                </a:solidFill>
              </a:rPr>
              <a:t>• Module 4: SQL Business Intelligence &amp; Cohort Analytics: </a:t>
            </a:r>
            <a:r>
              <a:rPr lang="en-US" altLang="en-US" sz="1200">
                <a:solidFill>
                  <a:srgbClr val="1E293B"/>
                </a:solidFill>
              </a:rPr>
              <a:t>Stores cleaned data into SQLite (churn.db) and executes 10 strategic SQL queries to evaluate cohort churn and calculate revenue at risk ($138K/mo).</a:t>
            </a:r>
          </a:p>
          <a:p>
            <a:pPr eaLnBrk="1" hangingPunct="1">
              <a:spcAft>
                <a:spcPts val="500"/>
              </a:spcAft>
            </a:pPr>
            <a:endParaRPr lang="en-US" altLang="en-US" sz="1200">
              <a:solidFill>
                <a:srgbClr val="1E293B"/>
              </a:solidFill>
            </a:endParaRPr>
          </a:p>
          <a:p>
            <a:pPr eaLnBrk="1" hangingPunct="1">
              <a:spcAft>
                <a:spcPts val="500"/>
              </a:spcAft>
            </a:pPr>
            <a:r>
              <a:rPr lang="en-US" altLang="en-US" sz="1200" b="1">
                <a:solidFill>
                  <a:srgbClr val="0B3B60"/>
                </a:solidFill>
              </a:rPr>
              <a:t>• Module 5: Interactive Web Dashboard (Streamlit): </a:t>
            </a:r>
            <a:r>
              <a:rPr lang="en-US" altLang="en-US" sz="1200">
                <a:solidFill>
                  <a:srgbClr val="1E293B"/>
                </a:solidFill>
              </a:rPr>
              <a:t>Provides an interactive web UI for real-time customer risk prediction, batch CSV scoring, ARR/MRR financial telemetry, ground-truth model testing, and executive report exports.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3">
            <a:extLst>
              <a:ext uri="{FF2B5EF4-FFF2-40B4-BE49-F238E27FC236}">
                <a16:creationId xmlns:a16="http://schemas.microsoft.com/office/drawing/2014/main" id="{7E43B688-26AA-1850-DDC7-03738CACCE4B}"/>
              </a:ext>
            </a:extLst>
          </p:cNvPr>
          <p:cNvSpPr txBox="1">
            <a:spLocks noChangeArrowheads="1"/>
          </p:cNvSpPr>
          <p:nvPr/>
        </p:nvSpPr>
        <p:spPr bwMode="auto">
          <a:xfrm>
            <a:off x="752475" y="457200"/>
            <a:ext cx="8047038"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0B3B60"/>
                </a:solidFill>
                <a:latin typeface="Georgia" panose="02040502050405020303" pitchFamily="18" charset="0"/>
              </a:rPr>
              <a:t>System Design &amp; Workflow</a:t>
            </a:r>
          </a:p>
        </p:txBody>
      </p:sp>
      <p:sp>
        <p:nvSpPr>
          <p:cNvPr id="5" name="TextBox 4">
            <a:extLst>
              <a:ext uri="{FF2B5EF4-FFF2-40B4-BE49-F238E27FC236}">
                <a16:creationId xmlns:a16="http://schemas.microsoft.com/office/drawing/2014/main" id="{910E8DBD-4BA6-64C6-18DE-586406652C11}"/>
              </a:ext>
            </a:extLst>
          </p:cNvPr>
          <p:cNvSpPr txBox="1"/>
          <p:nvPr/>
        </p:nvSpPr>
        <p:spPr>
          <a:xfrm>
            <a:off x="822325" y="1096963"/>
            <a:ext cx="8047038" cy="2554287"/>
          </a:xfrm>
          <a:prstGeom prst="rect">
            <a:avLst/>
          </a:prstGeom>
          <a:noFill/>
        </p:spPr>
        <p:txBody>
          <a:bodyPr>
            <a:spAutoFit/>
          </a:bodyPr>
          <a:lstStyle/>
          <a:p>
            <a:pPr eaLnBrk="1" fontAlgn="auto" hangingPunct="1">
              <a:spcBef>
                <a:spcPts val="0"/>
              </a:spcBef>
              <a:spcAft>
                <a:spcPts val="400"/>
              </a:spcAft>
              <a:defRPr sz="1500" b="1">
                <a:solidFill>
                  <a:srgbClr val="0B3B60"/>
                </a:solidFill>
              </a:defRPr>
            </a:pPr>
            <a:r>
              <a:rPr sz="1500" b="1" dirty="0">
                <a:solidFill>
                  <a:srgbClr val="FF0000"/>
                </a:solidFill>
                <a:latin typeface="+mn-lt"/>
              </a:rPr>
              <a:t>Functional Design &amp; Layered Architecture</a:t>
            </a:r>
          </a:p>
          <a:p>
            <a:pPr eaLnBrk="1" fontAlgn="auto" hangingPunct="1">
              <a:spcBef>
                <a:spcPts val="0"/>
              </a:spcBef>
              <a:spcAft>
                <a:spcPts val="400"/>
              </a:spcAft>
              <a:defRPr sz="1250">
                <a:solidFill>
                  <a:srgbClr val="1E293B"/>
                </a:solidFill>
              </a:defRPr>
            </a:pPr>
            <a:r>
              <a:rPr sz="1250" dirty="0">
                <a:solidFill>
                  <a:srgbClr val="1E293B"/>
                </a:solidFill>
                <a:latin typeface="+mn-lt"/>
              </a:rPr>
              <a:t>• Presentation Layer: </a:t>
            </a:r>
            <a:r>
              <a:rPr sz="1250" dirty="0" err="1">
                <a:solidFill>
                  <a:srgbClr val="1E293B"/>
                </a:solidFill>
                <a:latin typeface="+mn-lt"/>
              </a:rPr>
              <a:t>Streamlit</a:t>
            </a:r>
            <a:r>
              <a:rPr sz="1250" dirty="0">
                <a:solidFill>
                  <a:srgbClr val="1E293B"/>
                </a:solidFill>
                <a:latin typeface="+mn-lt"/>
              </a:rPr>
              <a:t> Dashboard UI receiving real-time user inputs and rendering visual analytics.</a:t>
            </a:r>
          </a:p>
          <a:p>
            <a:pPr eaLnBrk="1" fontAlgn="auto" hangingPunct="1">
              <a:spcBef>
                <a:spcPts val="0"/>
              </a:spcBef>
              <a:spcAft>
                <a:spcPts val="400"/>
              </a:spcAft>
              <a:defRPr sz="1250">
                <a:solidFill>
                  <a:srgbClr val="1E293B"/>
                </a:solidFill>
              </a:defRPr>
            </a:pPr>
            <a:r>
              <a:rPr sz="1250" dirty="0">
                <a:solidFill>
                  <a:srgbClr val="1E293B"/>
                </a:solidFill>
                <a:latin typeface="+mn-lt"/>
              </a:rPr>
              <a:t>• Application / Service Layer: Python inference pipeline loading serialized models (`</a:t>
            </a:r>
            <a:r>
              <a:rPr sz="1250" dirty="0" err="1">
                <a:solidFill>
                  <a:srgbClr val="1E293B"/>
                </a:solidFill>
                <a:latin typeface="+mn-lt"/>
              </a:rPr>
              <a:t>best_model.pkl</a:t>
            </a:r>
            <a:r>
              <a:rPr sz="1250" dirty="0">
                <a:solidFill>
                  <a:srgbClr val="1E293B"/>
                </a:solidFill>
                <a:latin typeface="+mn-lt"/>
              </a:rPr>
              <a:t>`) and running live probability scoring.</a:t>
            </a:r>
          </a:p>
          <a:p>
            <a:pPr eaLnBrk="1" fontAlgn="auto" hangingPunct="1">
              <a:spcBef>
                <a:spcPts val="0"/>
              </a:spcBef>
              <a:spcAft>
                <a:spcPts val="400"/>
              </a:spcAft>
              <a:defRPr sz="1250">
                <a:solidFill>
                  <a:srgbClr val="1E293B"/>
                </a:solidFill>
              </a:defRPr>
            </a:pPr>
            <a:r>
              <a:rPr sz="1250" dirty="0">
                <a:solidFill>
                  <a:srgbClr val="1E293B"/>
                </a:solidFill>
                <a:latin typeface="+mn-lt"/>
              </a:rPr>
              <a:t>• Data &amp; Persistence Layer: SQLite Relational Database (`</a:t>
            </a:r>
            <a:r>
              <a:rPr sz="1250" dirty="0" err="1">
                <a:solidFill>
                  <a:srgbClr val="1E293B"/>
                </a:solidFill>
                <a:latin typeface="+mn-lt"/>
              </a:rPr>
              <a:t>churn.db</a:t>
            </a:r>
            <a:r>
              <a:rPr sz="1250" dirty="0">
                <a:solidFill>
                  <a:srgbClr val="1E293B"/>
                </a:solidFill>
                <a:latin typeface="+mn-lt"/>
              </a:rPr>
              <a:t>`) managing relational customer records, service contracts, and historical churn outcomes.</a:t>
            </a:r>
          </a:p>
          <a:p>
            <a:pPr eaLnBrk="1" fontAlgn="auto" hangingPunct="1">
              <a:spcBef>
                <a:spcPts val="800"/>
              </a:spcBef>
              <a:spcAft>
                <a:spcPts val="400"/>
              </a:spcAft>
              <a:defRPr sz="1500" b="1">
                <a:solidFill>
                  <a:srgbClr val="C8102E"/>
                </a:solidFill>
              </a:defRPr>
            </a:pPr>
            <a:r>
              <a:rPr sz="1500" b="1" dirty="0">
                <a:solidFill>
                  <a:srgbClr val="C8102E"/>
                </a:solidFill>
                <a:latin typeface="+mn-lt"/>
              </a:rPr>
              <a:t>Design Specifications &amp; Quality Attributes</a:t>
            </a:r>
          </a:p>
          <a:p>
            <a:pPr eaLnBrk="1" fontAlgn="auto" hangingPunct="1">
              <a:spcBef>
                <a:spcPts val="0"/>
              </a:spcBef>
              <a:spcAft>
                <a:spcPts val="400"/>
              </a:spcAft>
              <a:defRPr sz="1250">
                <a:solidFill>
                  <a:srgbClr val="1E293B"/>
                </a:solidFill>
              </a:defRPr>
            </a:pPr>
            <a:r>
              <a:rPr sz="1250" dirty="0">
                <a:solidFill>
                  <a:srgbClr val="1E293B"/>
                </a:solidFill>
                <a:latin typeface="+mn-lt"/>
              </a:rPr>
              <a:t>• Modularity: Decoupled architecture allowing independent model updates or data pipeline extensions.</a:t>
            </a:r>
          </a:p>
          <a:p>
            <a:pPr eaLnBrk="1" fontAlgn="auto" hangingPunct="1">
              <a:spcBef>
                <a:spcPts val="0"/>
              </a:spcBef>
              <a:spcAft>
                <a:spcPts val="400"/>
              </a:spcAft>
              <a:defRPr sz="1250">
                <a:solidFill>
                  <a:srgbClr val="1E293B"/>
                </a:solidFill>
              </a:defRPr>
            </a:pPr>
            <a:r>
              <a:rPr sz="1250" dirty="0">
                <a:solidFill>
                  <a:srgbClr val="1E293B"/>
                </a:solidFill>
                <a:latin typeface="+mn-lt"/>
              </a:rPr>
              <a:t>• Responsiveness &amp; Low Latency: Single customer churn predictions generated in &lt; 50ms.</a:t>
            </a:r>
          </a:p>
          <a:p>
            <a:pPr eaLnBrk="1" fontAlgn="auto" hangingPunct="1">
              <a:spcBef>
                <a:spcPts val="0"/>
              </a:spcBef>
              <a:spcAft>
                <a:spcPts val="400"/>
              </a:spcAft>
              <a:defRPr sz="1250">
                <a:solidFill>
                  <a:srgbClr val="1E293B"/>
                </a:solidFill>
              </a:defRPr>
            </a:pPr>
            <a:r>
              <a:rPr sz="1250" dirty="0">
                <a:solidFill>
                  <a:srgbClr val="1E293B"/>
                </a:solidFill>
                <a:latin typeface="+mn-lt"/>
              </a:rPr>
              <a:t>• Reliability &amp; Maintainability: Automated unit checks, structured logging, and persistent artifact generation.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1">
            <a:extLst>
              <a:ext uri="{FF2B5EF4-FFF2-40B4-BE49-F238E27FC236}">
                <a16:creationId xmlns:a16="http://schemas.microsoft.com/office/drawing/2014/main" id="{0CEFDD8A-4F06-8014-2202-8F00598DB45D}"/>
              </a:ext>
            </a:extLst>
          </p:cNvPr>
          <p:cNvSpPr txBox="1">
            <a:spLocks noChangeArrowheads="1"/>
          </p:cNvSpPr>
          <p:nvPr/>
        </p:nvSpPr>
        <p:spPr bwMode="auto">
          <a:xfrm>
            <a:off x="1016000" y="177800"/>
            <a:ext cx="804545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200" b="1">
                <a:solidFill>
                  <a:srgbClr val="0A2D5A"/>
                </a:solidFill>
                <a:latin typeface="Georgia" panose="02040502050405020303" pitchFamily="18" charset="0"/>
              </a:rPr>
              <a:t>Data Flow Diagram (DFD Level 0 &amp; Level 1)</a:t>
            </a:r>
            <a:endParaRPr lang="en-IN" altLang="en-US" sz="2200" b="1">
              <a:solidFill>
                <a:srgbClr val="0A2D5A"/>
              </a:solidFill>
              <a:latin typeface="Georgia" panose="02040502050405020303" pitchFamily="18" charset="0"/>
            </a:endParaRPr>
          </a:p>
        </p:txBody>
      </p:sp>
      <p:pic>
        <p:nvPicPr>
          <p:cNvPr id="24579" name="Picture 3">
            <a:extLst>
              <a:ext uri="{FF2B5EF4-FFF2-40B4-BE49-F238E27FC236}">
                <a16:creationId xmlns:a16="http://schemas.microsoft.com/office/drawing/2014/main" id="{44653BEA-DF72-0685-A01F-954FBBACDD4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725" y="736600"/>
            <a:ext cx="8128000" cy="372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3">
            <a:extLst>
              <a:ext uri="{FF2B5EF4-FFF2-40B4-BE49-F238E27FC236}">
                <a16:creationId xmlns:a16="http://schemas.microsoft.com/office/drawing/2014/main" id="{6DCD4BFD-4208-4394-4AB4-4B7CD3DF2800}"/>
              </a:ext>
            </a:extLst>
          </p:cNvPr>
          <p:cNvSpPr txBox="1">
            <a:spLocks noChangeArrowheads="1"/>
          </p:cNvSpPr>
          <p:nvPr/>
        </p:nvSpPr>
        <p:spPr bwMode="auto">
          <a:xfrm>
            <a:off x="1798638" y="288925"/>
            <a:ext cx="6267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IN" altLang="en-US" sz="2800" b="1">
                <a:solidFill>
                  <a:srgbClr val="0A2D5A"/>
                </a:solidFill>
                <a:latin typeface="Georgia" panose="02040502050405020303" pitchFamily="18" charset="0"/>
              </a:rPr>
              <a:t>Design - UML Class Diagram</a:t>
            </a:r>
          </a:p>
        </p:txBody>
      </p:sp>
      <p:pic>
        <p:nvPicPr>
          <p:cNvPr id="25603" name="Picture 5">
            <a:extLst>
              <a:ext uri="{FF2B5EF4-FFF2-40B4-BE49-F238E27FC236}">
                <a16:creationId xmlns:a16="http://schemas.microsoft.com/office/drawing/2014/main" id="{5EF024F5-1597-92DB-7FBE-5DF5B9DE0D2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225" y="812800"/>
            <a:ext cx="8001000"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1">
            <a:extLst>
              <a:ext uri="{FF2B5EF4-FFF2-40B4-BE49-F238E27FC236}">
                <a16:creationId xmlns:a16="http://schemas.microsoft.com/office/drawing/2014/main" id="{C9A4965E-6BE6-8FEE-49C4-DA3CDD799847}"/>
              </a:ext>
            </a:extLst>
          </p:cNvPr>
          <p:cNvSpPr txBox="1">
            <a:spLocks noChangeArrowheads="1"/>
          </p:cNvSpPr>
          <p:nvPr/>
        </p:nvSpPr>
        <p:spPr bwMode="auto">
          <a:xfrm>
            <a:off x="1905000" y="203200"/>
            <a:ext cx="6267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2800" b="1">
                <a:solidFill>
                  <a:srgbClr val="0A2D5A"/>
                </a:solidFill>
                <a:latin typeface="Georgia" panose="02040502050405020303" pitchFamily="18" charset="0"/>
              </a:rPr>
              <a:t>Design - UML Use Case Diagram</a:t>
            </a:r>
            <a:endParaRPr lang="en-IN" altLang="en-US" sz="2800" b="1">
              <a:solidFill>
                <a:srgbClr val="0A2D5A"/>
              </a:solidFill>
              <a:latin typeface="Georgia" panose="02040502050405020303" pitchFamily="18" charset="0"/>
            </a:endParaRPr>
          </a:p>
        </p:txBody>
      </p:sp>
      <p:pic>
        <p:nvPicPr>
          <p:cNvPr id="26627" name="Picture 3">
            <a:extLst>
              <a:ext uri="{FF2B5EF4-FFF2-40B4-BE49-F238E27FC236}">
                <a16:creationId xmlns:a16="http://schemas.microsoft.com/office/drawing/2014/main" id="{472780C1-A6F1-F8E9-4CA5-A70F016D44D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8225" y="812800"/>
            <a:ext cx="8001000" cy="392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3">
            <a:extLst>
              <a:ext uri="{FF2B5EF4-FFF2-40B4-BE49-F238E27FC236}">
                <a16:creationId xmlns:a16="http://schemas.microsoft.com/office/drawing/2014/main" id="{F3FE223E-CCC0-85C8-2404-344508CF0DEC}"/>
              </a:ext>
            </a:extLst>
          </p:cNvPr>
          <p:cNvSpPr txBox="1">
            <a:spLocks noChangeArrowheads="1"/>
          </p:cNvSpPr>
          <p:nvPr/>
        </p:nvSpPr>
        <p:spPr bwMode="auto">
          <a:xfrm>
            <a:off x="822325" y="411163"/>
            <a:ext cx="8047038" cy="63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a:solidFill>
                  <a:srgbClr val="0B3B60"/>
                </a:solidFill>
                <a:latin typeface="Georgia" panose="02040502050405020303" pitchFamily="18" charset="0"/>
              </a:rPr>
              <a:t>Entity-Relationship (ER) Diagram</a:t>
            </a:r>
          </a:p>
        </p:txBody>
      </p:sp>
      <p:sp>
        <p:nvSpPr>
          <p:cNvPr id="6" name="TextBox 5">
            <a:extLst>
              <a:ext uri="{FF2B5EF4-FFF2-40B4-BE49-F238E27FC236}">
                <a16:creationId xmlns:a16="http://schemas.microsoft.com/office/drawing/2014/main" id="{82776365-5BF9-B46E-47E7-FD9567CA476C}"/>
              </a:ext>
            </a:extLst>
          </p:cNvPr>
          <p:cNvSpPr txBox="1"/>
          <p:nvPr/>
        </p:nvSpPr>
        <p:spPr>
          <a:xfrm>
            <a:off x="822325" y="3521075"/>
            <a:ext cx="8413750" cy="1644650"/>
          </a:xfrm>
          <a:prstGeom prst="rect">
            <a:avLst/>
          </a:prstGeom>
          <a:noFill/>
        </p:spPr>
        <p:txBody>
          <a:bodyPr lIns="0" tIns="0" rIns="0" bIns="0">
            <a:spAutoFit/>
          </a:bodyPr>
          <a:lstStyle/>
          <a:p>
            <a:pPr eaLnBrk="1" fontAlgn="auto" hangingPunct="1">
              <a:spcBef>
                <a:spcPts val="0"/>
              </a:spcBef>
              <a:spcAft>
                <a:spcPts val="600"/>
              </a:spcAft>
              <a:defRPr sz="1250" b="1">
                <a:latin typeface="Georgia"/>
              </a:defRPr>
            </a:pPr>
            <a:r>
              <a:rPr sz="1250" b="1">
                <a:latin typeface="Georgia"/>
              </a:rPr>
              <a:t>• Relational Schema Design: </a:t>
            </a:r>
            <a:r>
              <a:rPr sz="1200" b="1">
                <a:latin typeface="Segoe UI"/>
              </a:rPr>
              <a:t>Defines structured entities for Customers, ServiceContracts, BillingDetails, ChurnPredictions &amp; RevenueMetrics.</a:t>
            </a:r>
          </a:p>
          <a:p>
            <a:pPr eaLnBrk="1" fontAlgn="auto" hangingPunct="1">
              <a:spcBef>
                <a:spcPts val="0"/>
              </a:spcBef>
              <a:spcAft>
                <a:spcPts val="600"/>
              </a:spcAft>
              <a:defRPr sz="1250" b="1">
                <a:latin typeface="Georgia"/>
              </a:defRPr>
            </a:pPr>
            <a:r>
              <a:rPr sz="1250" b="1">
                <a:latin typeface="Georgia"/>
              </a:rPr>
              <a:t>• Central Primary Key Mapping: </a:t>
            </a:r>
            <a:r>
              <a:rPr sz="1200" b="1">
                <a:latin typeface="Segoe UI"/>
              </a:rPr>
              <a:t>CustomerID serves as the central foreign key connecting subscriber demographic profiles, services &amp; billing history.</a:t>
            </a:r>
          </a:p>
          <a:p>
            <a:pPr eaLnBrk="1" fontAlgn="auto" hangingPunct="1">
              <a:spcBef>
                <a:spcPts val="0"/>
              </a:spcBef>
              <a:spcAft>
                <a:spcPts val="600"/>
              </a:spcAft>
              <a:defRPr sz="1250" b="1">
                <a:latin typeface="Georgia"/>
              </a:defRPr>
            </a:pPr>
            <a:r>
              <a:rPr sz="1250" b="1">
                <a:latin typeface="Georgia"/>
              </a:rPr>
              <a:t>• Cohort Analytics Support: </a:t>
            </a:r>
            <a:r>
              <a:rPr sz="1200" b="1">
                <a:latin typeface="Segoe UI"/>
              </a:rPr>
              <a:t>Structured relational schema enables fast SQL aggregations to calculate churn rates by contract &amp; payment method.</a:t>
            </a:r>
          </a:p>
        </p:txBody>
      </p:sp>
      <p:pic>
        <p:nvPicPr>
          <p:cNvPr id="27652" name="Picture 2">
            <a:extLst>
              <a:ext uri="{FF2B5EF4-FFF2-40B4-BE49-F238E27FC236}">
                <a16:creationId xmlns:a16="http://schemas.microsoft.com/office/drawing/2014/main" id="{CC083EB0-DD0E-3EF6-C48C-ED83A6F83F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088" y="941388"/>
            <a:ext cx="7251700" cy="250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3">
            <a:extLst>
              <a:ext uri="{FF2B5EF4-FFF2-40B4-BE49-F238E27FC236}">
                <a16:creationId xmlns:a16="http://schemas.microsoft.com/office/drawing/2014/main" id="{5A29DB95-E5CA-7A82-304A-F9E4D769132A}"/>
              </a:ext>
            </a:extLst>
          </p:cNvPr>
          <p:cNvSpPr txBox="1">
            <a:spLocks noChangeArrowheads="1"/>
          </p:cNvSpPr>
          <p:nvPr/>
        </p:nvSpPr>
        <p:spPr bwMode="auto">
          <a:xfrm>
            <a:off x="785813" y="1870075"/>
            <a:ext cx="8047037"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3600" b="1">
                <a:solidFill>
                  <a:srgbClr val="0B3B60"/>
                </a:solidFill>
                <a:latin typeface="Georgia" panose="02040502050405020303" pitchFamily="18" charset="0"/>
              </a:rPr>
              <a:t>Thank You!</a:t>
            </a:r>
          </a:p>
        </p:txBody>
      </p:sp>
      <p:sp>
        <p:nvSpPr>
          <p:cNvPr id="28675" name="TextBox 4">
            <a:extLst>
              <a:ext uri="{FF2B5EF4-FFF2-40B4-BE49-F238E27FC236}">
                <a16:creationId xmlns:a16="http://schemas.microsoft.com/office/drawing/2014/main" id="{96A73600-86FA-1332-9D74-C37538C1B48F}"/>
              </a:ext>
            </a:extLst>
          </p:cNvPr>
          <p:cNvSpPr txBox="1">
            <a:spLocks noChangeArrowheads="1"/>
          </p:cNvSpPr>
          <p:nvPr/>
        </p:nvSpPr>
        <p:spPr bwMode="auto">
          <a:xfrm>
            <a:off x="731838" y="2560638"/>
            <a:ext cx="8047037"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C8102E"/>
                </a:solidFill>
              </a:rPr>
              <a:t>Questions &amp; Feedback</a:t>
            </a:r>
          </a:p>
          <a:p>
            <a:pPr algn="ctr" eaLnBrk="1" hangingPunct="1">
              <a:spcBef>
                <a:spcPts val="800"/>
              </a:spcBef>
            </a:pPr>
            <a:r>
              <a:rPr lang="en-US" altLang="en-US" sz="1400">
                <a:solidFill>
                  <a:srgbClr val="1E293B"/>
                </a:solidFill>
              </a:rPr>
              <a:t>Team No: 8  |  Department of Data Science  |  Anurag University</a:t>
            </a:r>
          </a:p>
        </p:txBody>
      </p:sp>
    </p:spTree>
  </p:cSld>
  <p:clrMapOvr>
    <a:masterClrMapping/>
  </p:clrMapOvr>
</p:sld>
</file>

<file path=ppt/theme/theme1.xml><?xml version="1.0" encoding="utf-8"?>
<a:theme xmlns:a="http://schemas.openxmlformats.org/drawingml/2006/main" name="Isometric Resume Infographics by Slidesgo">
  <a:themeElements>
    <a:clrScheme name="Simple Light">
      <a:dk1>
        <a:srgbClr val="000000"/>
      </a:dk1>
      <a:lt1>
        <a:srgbClr val="FFFFFF"/>
      </a:lt1>
      <a:dk2>
        <a:srgbClr val="979797"/>
      </a:dk2>
      <a:lt2>
        <a:srgbClr val="DDDDDD"/>
      </a:lt2>
      <a:accent1>
        <a:srgbClr val="BA9CEC"/>
      </a:accent1>
      <a:accent2>
        <a:srgbClr val="FAA22F"/>
      </a:accent2>
      <a:accent3>
        <a:srgbClr val="FD675F"/>
      </a:accent3>
      <a:accent4>
        <a:srgbClr val="6DABF0"/>
      </a:accent4>
      <a:accent5>
        <a:srgbClr val="3E74B1"/>
      </a:accent5>
      <a:accent6>
        <a:srgbClr val="523BC0"/>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239</TotalTime>
  <Words>1476</Words>
  <Application>Microsoft Office PowerPoint</Application>
  <PresentationFormat>Custom</PresentationFormat>
  <Paragraphs>131</Paragraphs>
  <Slides>16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Symbol</vt:lpstr>
      <vt:lpstr>Georgia</vt:lpstr>
      <vt:lpstr>Times New Roman</vt:lpstr>
      <vt:lpstr>Wingdings</vt:lpstr>
      <vt:lpstr>Arial</vt:lpstr>
      <vt:lpstr>Segoe UI</vt:lpstr>
      <vt:lpstr>Isometric Resume Infographics by Slidesgo</vt:lpstr>
      <vt:lpstr>PowerPoint Presentation</vt:lpstr>
      <vt:lpstr>Abstract</vt:lpstr>
      <vt:lpstr>PowerPoint Presentation</vt:lpstr>
      <vt:lpstr>PowerPoint Presentation</vt:lpstr>
      <vt:lpstr>PowerPoint Presentation</vt:lpstr>
      <vt:lpstr>PowerPoint Presentation</vt:lpstr>
      <vt:lpstr>PowerPoint Presentation</vt:lpstr>
      <vt:lpstr>Software and Hardware Requirements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Anurag</dc:creator>
  <cp:lastModifiedBy>Sreekar Tp</cp:lastModifiedBy>
  <cp:revision>84</cp:revision>
  <dcterms:created xsi:type="dcterms:W3CDTF">2026-07-03T08:11:21Z</dcterms:created>
  <dcterms:modified xsi:type="dcterms:W3CDTF">2026-10-08T03:02:18Z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vt:i4>
  </property>
  <property fmtid="{D5CDD505-2E9C-101B-9397-08002B2CF9AE}" pid="3" name="PresentationFormat">
    <vt:lpwstr>Custom</vt:lpwstr>
  </property>
  <property fmtid="{D5CDD505-2E9C-101B-9397-08002B2CF9AE}" pid="4" name="Slides">
    <vt:i4>7</vt:i4>
  </property>
  <property fmtid="{D5CDD505-2E9C-101B-9397-08002B2CF9AE}" pid="5" name="ICV">
    <vt:lpwstr>78104E598C8948C9B650E987E9F8D71F_12</vt:lpwstr>
  </property>
  <property fmtid="{D5CDD505-2E9C-101B-9397-08002B2CF9AE}" pid="6" name="KSOProductBuildVer">
    <vt:lpwstr>1033-12.1.0.26880</vt:lpwstr>
  </property>
</Properties>
</file>